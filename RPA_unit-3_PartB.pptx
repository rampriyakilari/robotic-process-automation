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71" r:id="rId2"/>
    <p:sldId id="272" r:id="rId3"/>
    <p:sldId id="273" r:id="rId4"/>
    <p:sldId id="274" r:id="rId5"/>
    <p:sldId id="276" r:id="rId6"/>
    <p:sldId id="277" r:id="rId7"/>
    <p:sldId id="275"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63" r:id="rId28"/>
    <p:sldId id="264" r:id="rId29"/>
    <p:sldId id="265" r:id="rId30"/>
    <p:sldId id="266" r:id="rId31"/>
    <p:sldId id="267" r:id="rId32"/>
    <p:sldId id="268" r:id="rId33"/>
    <p:sldId id="269" r:id="rId34"/>
    <p:sldId id="303" r:id="rId35"/>
    <p:sldId id="304" r:id="rId36"/>
    <p:sldId id="305" r:id="rId37"/>
    <p:sldId id="306" r:id="rId38"/>
    <p:sldId id="307" r:id="rId39"/>
    <p:sldId id="270"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 id="349" r:id="rId82"/>
    <p:sldId id="350" r:id="rId83"/>
    <p:sldId id="351" r:id="rId84"/>
    <p:sldId id="352" r:id="rId85"/>
    <p:sldId id="353" r:id="rId86"/>
    <p:sldId id="354" r:id="rId87"/>
    <p:sldId id="355" r:id="rId88"/>
    <p:sldId id="356" r:id="rId89"/>
    <p:sldId id="357" r:id="rId90"/>
    <p:sldId id="358" r:id="rId91"/>
    <p:sldId id="359" r:id="rId92"/>
    <p:sldId id="360" r:id="rId93"/>
    <p:sldId id="361" r:id="rId94"/>
    <p:sldId id="362" r:id="rId95"/>
    <p:sldId id="363" r:id="rId96"/>
    <p:sldId id="364" r:id="rId97"/>
    <p:sldId id="365" r:id="rId98"/>
    <p:sldId id="366" r:id="rId99"/>
    <p:sldId id="367" r:id="rId100"/>
    <p:sldId id="368" r:id="rId101"/>
    <p:sldId id="369" r:id="rId102"/>
    <p:sldId id="370" r:id="rId103"/>
    <p:sldId id="371" r:id="rId104"/>
    <p:sldId id="372" r:id="rId105"/>
    <p:sldId id="373" r:id="rId106"/>
    <p:sldId id="374" r:id="rId107"/>
    <p:sldId id="375" r:id="rId108"/>
    <p:sldId id="376" r:id="rId109"/>
    <p:sldId id="377" r:id="rId110"/>
    <p:sldId id="378" r:id="rId111"/>
    <p:sldId id="379" r:id="rId112"/>
    <p:sldId id="380" r:id="rId113"/>
    <p:sldId id="381"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p:scale>
          <a:sx n="75" d="100"/>
          <a:sy n="75" d="100"/>
        </p:scale>
        <p:origin x="-974" y="-235"/>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D7FB73-B9E5-4342-8A9D-46CA731D5F3B}" type="datetimeFigureOut">
              <a:rPr lang="en-US" smtClean="0"/>
              <a:pPr/>
              <a:t>3/21/2025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93B1A6-7874-4AC0-93AA-13AF37A2A83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93B1A6-7874-4AC0-93AA-13AF37A2A83D}" type="slidenum">
              <a:rPr lang="en-US" smtClean="0"/>
              <a:pPr/>
              <a:t>22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93B1A6-7874-4AC0-93AA-13AF37A2A83D}" type="slidenum">
              <a:rPr lang="en-US" smtClean="0"/>
              <a:pPr/>
              <a:t>51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BDA0BA-B6D0-E06D-CC06-EC765CF142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B07FDB9A-3A6D-28CC-3A8C-4E7C0A3E38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A724A25D-CE24-74C0-1413-B14A338B6F3E}"/>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1660CAC9-3AC8-D8CB-02CF-D70666B0FF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4F550C1-1059-0106-BE5A-5BAD533DAB64}"/>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3822590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8F02C6-85D9-30BA-7E82-D207BDAB42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2A71A3F-7D07-D25D-C167-50274734E4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EFC0F76-935B-49BB-22AE-0268C473E029}"/>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DFDFD1D0-BF30-12EC-58ED-774B7B639D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E7ECEC6-D758-D5DC-FDE3-250A0FB894FF}"/>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44617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9368E9-B5CB-0F84-8810-193D12A7DC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E7333C0-8F7E-41C3-F87B-8DA0E140CC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69C525E-9D9A-33A0-4F7E-64D34B6C7585}"/>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6901055B-B0A0-9F16-0A28-84409E87BB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BB7F88E-729A-9919-DE82-55EE5353ABC1}"/>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3223433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87BE77-8496-DB00-534D-85F2A7D4D7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AF4C984-5815-451B-A1E6-09FC6E40E7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44F207F4-D48D-01A4-B352-28F22BE426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886A5C7A-0E12-6CFB-C7C3-706AC7CC9DA3}"/>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6" name="Footer Placeholder 5">
            <a:extLst>
              <a:ext uri="{FF2B5EF4-FFF2-40B4-BE49-F238E27FC236}">
                <a16:creationId xmlns="" xmlns:a16="http://schemas.microsoft.com/office/drawing/2014/main" id="{58720C99-E845-FD73-5A55-C391AB3713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EF3D667-FE18-3374-5932-AC51A2381B29}"/>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2548091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BB351D-3F7E-3FAE-0BAE-9BD6084A25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5AC28C3-D17A-1429-85F5-CCB47FCA6B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229E1E1-E3B7-D5E1-8997-A6F3E77A1C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ED0B0A7-B3C7-570C-23ED-CCDEB8F824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1694BB29-E0A6-D539-EAC0-E6E8B02C84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71AF5F95-A7D3-EF99-6C19-EB3C1F7D2D15}"/>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8" name="Footer Placeholder 7">
            <a:extLst>
              <a:ext uri="{FF2B5EF4-FFF2-40B4-BE49-F238E27FC236}">
                <a16:creationId xmlns="" xmlns:a16="http://schemas.microsoft.com/office/drawing/2014/main" id="{D5DE60CE-F998-6A1B-54AF-6543B3E572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9DA7BC19-C819-E019-F006-2AF9AC42856A}"/>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3511400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452F37-F9F2-D642-D471-045577FA30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50FE141-8A60-3C66-F9C7-B2519364392A}"/>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4" name="Footer Placeholder 3">
            <a:extLst>
              <a:ext uri="{FF2B5EF4-FFF2-40B4-BE49-F238E27FC236}">
                <a16:creationId xmlns="" xmlns:a16="http://schemas.microsoft.com/office/drawing/2014/main" id="{C3725A75-330F-DBA1-D117-F15FE45C68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FBB77832-8717-1DA2-437B-08AF55381D4D}"/>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874561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E72C547-57FB-CFBE-3934-092456950C19}"/>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3" name="Footer Placeholder 2">
            <a:extLst>
              <a:ext uri="{FF2B5EF4-FFF2-40B4-BE49-F238E27FC236}">
                <a16:creationId xmlns="" xmlns:a16="http://schemas.microsoft.com/office/drawing/2014/main" id="{ACC33413-5830-4EB5-AB96-2D2CB32699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D19EFED6-6F03-1108-4600-467071CAA70D}"/>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608521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73CBDC-576C-9359-E466-38A85C8328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A3D8953-752E-74F8-D4C6-AD7E09963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B0BF240-3202-77A9-FE57-86F05D9DED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3FD4632-DE27-B518-6E6A-09F67EB5EABA}"/>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6" name="Footer Placeholder 5">
            <a:extLst>
              <a:ext uri="{FF2B5EF4-FFF2-40B4-BE49-F238E27FC236}">
                <a16:creationId xmlns="" xmlns:a16="http://schemas.microsoft.com/office/drawing/2014/main" id="{154C0C22-F833-16D9-3540-BE25349E4F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8E759DF-2711-3006-D01D-B3CA0314A14D}"/>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1392291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B5D8F0-95D4-BAE7-FD8F-7672A5BFE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E6ACFA5B-C14F-E4E6-4259-725EFA397F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D65A2D08-21CD-1D5F-910A-16E73C8374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97D86CD-0D05-3558-AA6B-1D799A9AC35D}"/>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6" name="Footer Placeholder 5">
            <a:extLst>
              <a:ext uri="{FF2B5EF4-FFF2-40B4-BE49-F238E27FC236}">
                <a16:creationId xmlns="" xmlns:a16="http://schemas.microsoft.com/office/drawing/2014/main" id="{9DB429BE-306B-4DB2-30CA-D7F94187F9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5570FBA-86EC-1E02-213D-6DD04D1FB4FA}"/>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3836816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E2DA41-13B6-9108-E9B3-4DE9FD5BE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A7ABC0A-05EE-1301-0DEC-DD41EE42E3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424FF9D-0EA6-0625-39F8-D366BE10EB27}"/>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091BBE80-B2E3-B15A-4E24-62694222A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8F33AE9-AD9A-0DC6-31B6-C39F52BC613A}"/>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763716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D1060E6-0431-DA77-8DB2-C12E117686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DD50591-E9A5-62F6-2AE2-2A7BFEEE75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7B4D89D-919A-7307-9D7C-3321AAEE5900}"/>
              </a:ext>
            </a:extLst>
          </p:cNvPr>
          <p:cNvSpPr>
            <a:spLocks noGrp="1"/>
          </p:cNvSpPr>
          <p:nvPr>
            <p:ph type="dt" sz="half" idx="10"/>
          </p:nvPr>
        </p:nvSpPr>
        <p:spPr/>
        <p:txBody>
          <a:body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B99C7AB5-36FC-4546-3D8D-5F1677A085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39C5357-032F-43DC-6946-6F4279E50A99}"/>
              </a:ext>
            </a:extLst>
          </p:cNvPr>
          <p:cNvSpPr>
            <a:spLocks noGrp="1"/>
          </p:cNvSpPr>
          <p:nvPr>
            <p:ph type="sldNum" sz="quarter" idx="12"/>
          </p:nvPr>
        </p:nvSpPr>
        <p:spPr/>
        <p:txBody>
          <a:body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379743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8CD7A9F-82F8-F60F-143B-BCE79C4FED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8074D42-F0E9-BA28-E4F0-BB9276484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2126DCF-F180-16ED-3365-8B5EA6BC37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C009E1-56AD-46C9-8E04-D038C13A9C4C}" type="datetimeFigureOut">
              <a:rPr lang="en-IN" smtClean="0"/>
              <a:pPr/>
              <a:t>21-03-2025</a:t>
            </a:fld>
            <a:endParaRPr lang="en-IN"/>
          </a:p>
        </p:txBody>
      </p:sp>
      <p:sp>
        <p:nvSpPr>
          <p:cNvPr id="5" name="Footer Placeholder 4">
            <a:extLst>
              <a:ext uri="{FF2B5EF4-FFF2-40B4-BE49-F238E27FC236}">
                <a16:creationId xmlns="" xmlns:a16="http://schemas.microsoft.com/office/drawing/2014/main" id="{2F7F885A-EC8E-3691-1218-E45DF5FD54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8683C9AA-0131-63C6-7B83-9BE4DAF65F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1AFDC2-158F-4256-A192-3934A042345E}" type="slidenum">
              <a:rPr lang="en-IN" smtClean="0"/>
              <a:pPr/>
              <a:t>‹#›</a:t>
            </a:fld>
            <a:endParaRPr lang="en-IN"/>
          </a:p>
        </p:txBody>
      </p:sp>
    </p:spTree>
    <p:extLst>
      <p:ext uri="{BB962C8B-B14F-4D97-AF65-F5344CB8AC3E}">
        <p14:creationId xmlns="" xmlns:p14="http://schemas.microsoft.com/office/powerpoint/2010/main" val="1077049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1558"/>
            <a:ext cx="9144000" cy="876041"/>
          </a:xfrm>
        </p:spPr>
        <p:txBody>
          <a:bodyPr>
            <a:normAutofit fontScale="90000"/>
          </a:bodyPr>
          <a:lstStyle/>
          <a:p>
            <a:r>
              <a:rPr lang="en-US" dirty="0" smtClean="0"/>
              <a:t>UNIT-3 PART B</a:t>
            </a:r>
            <a:endParaRPr lang="en-US" dirty="0"/>
          </a:p>
        </p:txBody>
      </p:sp>
      <p:sp>
        <p:nvSpPr>
          <p:cNvPr id="3" name="Subtitle 2"/>
          <p:cNvSpPr>
            <a:spLocks noGrp="1"/>
          </p:cNvSpPr>
          <p:nvPr>
            <p:ph type="subTitle" idx="1"/>
          </p:nvPr>
        </p:nvSpPr>
        <p:spPr>
          <a:xfrm>
            <a:off x="1505339" y="2808514"/>
            <a:ext cx="9144000" cy="3806890"/>
          </a:xfrm>
        </p:spPr>
        <p:txBody>
          <a:bodyPr>
            <a:normAutofit/>
          </a:bodyPr>
          <a:lstStyle/>
          <a:p>
            <a:pPr algn="just"/>
            <a:r>
              <a:rPr lang="en-US" sz="2000" dirty="0" smtClean="0"/>
              <a:t>Advanced Automation concepts &amp; Techniques: Recorders in </a:t>
            </a:r>
            <a:r>
              <a:rPr lang="en-US" sz="2000" dirty="0" err="1" smtClean="0"/>
              <a:t>Uipath</a:t>
            </a:r>
            <a:r>
              <a:rPr lang="en-US" sz="2000" dirty="0" smtClean="0"/>
              <a:t> - Input/output </a:t>
            </a:r>
            <a:r>
              <a:rPr lang="en-US" sz="2000" dirty="0" err="1" smtClean="0"/>
              <a:t>MethodDebugging</a:t>
            </a:r>
            <a:r>
              <a:rPr lang="en-US" sz="2000" dirty="0" smtClean="0"/>
              <a:t> - RPA Challenge - Image, Text &amp; Advanced Citrix Automation - Introduction to Image &amp; Text Automation - Keyboard based automation -Advanced Citrix Automation challenges –PDF Automation-App Integration &amp; Excel Automation- Email Automation &amp; Database Automation.</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Automation concepts &amp; Techniques:</a:t>
            </a:r>
            <a:endParaRPr lang="en-US" dirty="0"/>
          </a:p>
        </p:txBody>
      </p:sp>
      <p:sp>
        <p:nvSpPr>
          <p:cNvPr id="3" name="Content Placeholder 2"/>
          <p:cNvSpPr>
            <a:spLocks noGrp="1"/>
          </p:cNvSpPr>
          <p:nvPr>
            <p:ph idx="1"/>
          </p:nvPr>
        </p:nvSpPr>
        <p:spPr/>
        <p:txBody>
          <a:bodyPr/>
          <a:lstStyle/>
          <a:p>
            <a:r>
              <a:rPr lang="en-US" dirty="0" smtClean="0"/>
              <a:t>Advanced automation concepts and techniques in </a:t>
            </a:r>
            <a:r>
              <a:rPr lang="en-US" dirty="0" err="1" smtClean="0"/>
              <a:t>UiPath</a:t>
            </a:r>
            <a:r>
              <a:rPr lang="en-US" dirty="0" smtClean="0"/>
              <a:t> are designed to begin more complex and sophisticated tasks</a:t>
            </a:r>
          </a:p>
          <a:p>
            <a:r>
              <a:rPr lang="en-US" dirty="0" smtClean="0"/>
              <a:t>Integrating various tools and frameworks to increase efficiency and robustness.</a:t>
            </a:r>
          </a:p>
          <a:p>
            <a:r>
              <a:rPr lang="en-US" dirty="0" smtClean="0"/>
              <a:t> Here’s a rundown of some advanced techniques that can enhance your RPA (Robotic Process Automation) workflows: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Selectors and Dynamic Selectors:</a:t>
            </a:r>
            <a:endParaRPr lang="en-US" dirty="0"/>
          </a:p>
        </p:txBody>
      </p:sp>
      <p:sp>
        <p:nvSpPr>
          <p:cNvPr id="3" name="Content Placeholder 2"/>
          <p:cNvSpPr>
            <a:spLocks noGrp="1"/>
          </p:cNvSpPr>
          <p:nvPr>
            <p:ph idx="1"/>
          </p:nvPr>
        </p:nvSpPr>
        <p:spPr/>
        <p:txBody>
          <a:bodyPr/>
          <a:lstStyle/>
          <a:p>
            <a:r>
              <a:rPr lang="en-US" dirty="0" smtClean="0"/>
              <a:t>Selectors are used to identify UI elements in applications.</a:t>
            </a:r>
          </a:p>
          <a:p>
            <a:r>
              <a:rPr lang="en-US" dirty="0" smtClean="0"/>
              <a:t> Dynamic selectors make automation more flexible by handling changes in UI elements dynamically (e.g., changing IDs or names). </a:t>
            </a:r>
          </a:p>
          <a:p>
            <a:r>
              <a:rPr lang="en-US" dirty="0" smtClean="0"/>
              <a:t> Use wildcards (* and ?) to handle dynamic attributes. </a:t>
            </a:r>
          </a:p>
          <a:p>
            <a:r>
              <a:rPr lang="en-US" dirty="0" smtClean="0"/>
              <a:t> You can use </a:t>
            </a:r>
            <a:r>
              <a:rPr lang="en-US" dirty="0" err="1" smtClean="0"/>
              <a:t>UiPath</a:t>
            </a:r>
            <a:r>
              <a:rPr lang="en-US" dirty="0" smtClean="0"/>
              <a:t> Studio’s Anchor Base activity to work with dynamic selectors, where you locate a stable reference point and work relative to it.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Orchestrator and Advanced Scheduling:</a:t>
            </a:r>
            <a:endParaRPr lang="en-US" dirty="0"/>
          </a:p>
        </p:txBody>
      </p:sp>
      <p:sp>
        <p:nvSpPr>
          <p:cNvPr id="3" name="Content Placeholder 2"/>
          <p:cNvSpPr>
            <a:spLocks noGrp="1"/>
          </p:cNvSpPr>
          <p:nvPr>
            <p:ph idx="1"/>
          </p:nvPr>
        </p:nvSpPr>
        <p:spPr/>
        <p:txBody>
          <a:bodyPr/>
          <a:lstStyle/>
          <a:p>
            <a:r>
              <a:rPr lang="en-US" dirty="0" err="1" smtClean="0"/>
              <a:t>UiPath</a:t>
            </a:r>
            <a:r>
              <a:rPr lang="en-US" dirty="0" smtClean="0"/>
              <a:t> Orchestrator allows you to schedule, monitor, and manage robots. </a:t>
            </a:r>
          </a:p>
          <a:p>
            <a:r>
              <a:rPr lang="en-US" dirty="0" smtClean="0"/>
              <a:t> Advanced scheduling techniques involve creating jobs for specific robots at specific times, handling multiple environments, or creating trigger-based automation. </a:t>
            </a:r>
          </a:p>
          <a:p>
            <a:r>
              <a:rPr lang="en-US" dirty="0" smtClean="0"/>
              <a:t> Queues and Assets in Orchestrator are key for handling large volumes of data and sharing values securely across multiple robots.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Advanced Exception Handling</a:t>
            </a:r>
            <a:endParaRPr lang="en-US" dirty="0"/>
          </a:p>
        </p:txBody>
      </p:sp>
      <p:sp>
        <p:nvSpPr>
          <p:cNvPr id="3" name="Content Placeholder 2"/>
          <p:cNvSpPr>
            <a:spLocks noGrp="1"/>
          </p:cNvSpPr>
          <p:nvPr>
            <p:ph idx="1"/>
          </p:nvPr>
        </p:nvSpPr>
        <p:spPr/>
        <p:txBody>
          <a:bodyPr/>
          <a:lstStyle/>
          <a:p>
            <a:r>
              <a:rPr lang="en-US" dirty="0" smtClean="0"/>
              <a:t>Try-Catch: </a:t>
            </a:r>
          </a:p>
          <a:p>
            <a:r>
              <a:rPr lang="en-US" dirty="0" smtClean="0"/>
              <a:t>Used to handle exceptions during runtime. It’s important to log and manage exceptions properly to ensure the robot can recover and resume. </a:t>
            </a:r>
          </a:p>
          <a:p>
            <a:r>
              <a:rPr lang="en-US" dirty="0" smtClean="0"/>
              <a:t> Global Exception Handler: </a:t>
            </a:r>
            <a:r>
              <a:rPr lang="en-US" dirty="0" err="1" smtClean="0"/>
              <a:t>UiPath</a:t>
            </a:r>
            <a:r>
              <a:rPr lang="en-US" dirty="0" smtClean="0"/>
              <a:t> allows setting up global exception handling at the project level. </a:t>
            </a:r>
          </a:p>
          <a:p>
            <a:r>
              <a:rPr lang="en-US" dirty="0" smtClean="0"/>
              <a:t> Retry Scope: A way to retry actions that may fail due to temporary issues like network unavailability.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Execution and Multi-Threading:</a:t>
            </a:r>
            <a:endParaRPr lang="en-US" dirty="0"/>
          </a:p>
        </p:txBody>
      </p:sp>
      <p:sp>
        <p:nvSpPr>
          <p:cNvPr id="3" name="Content Placeholder 2"/>
          <p:cNvSpPr>
            <a:spLocks noGrp="1"/>
          </p:cNvSpPr>
          <p:nvPr>
            <p:ph idx="1"/>
          </p:nvPr>
        </p:nvSpPr>
        <p:spPr/>
        <p:txBody>
          <a:bodyPr/>
          <a:lstStyle/>
          <a:p>
            <a:r>
              <a:rPr lang="en-US" dirty="0" smtClean="0"/>
              <a:t>Parallel Activity: This allows multiple branches of the process to run simultaneously. </a:t>
            </a:r>
          </a:p>
          <a:p>
            <a:r>
              <a:rPr lang="en-US" dirty="0" smtClean="0"/>
              <a:t>For example, you can run different tasks or interact with different systems concurrently.</a:t>
            </a:r>
          </a:p>
          <a:p>
            <a:r>
              <a:rPr lang="en-US" dirty="0" smtClean="0"/>
              <a:t> Use Invoke Method and Invoke Workflow to run multiple processes in parallel, boosting performance</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Libraries and Custom Activities:</a:t>
            </a:r>
            <a:endParaRPr lang="en-US" dirty="0"/>
          </a:p>
        </p:txBody>
      </p:sp>
      <p:sp>
        <p:nvSpPr>
          <p:cNvPr id="3" name="Content Placeholder 2"/>
          <p:cNvSpPr>
            <a:spLocks noGrp="1"/>
          </p:cNvSpPr>
          <p:nvPr>
            <p:ph idx="1"/>
          </p:nvPr>
        </p:nvSpPr>
        <p:spPr/>
        <p:txBody>
          <a:bodyPr/>
          <a:lstStyle/>
          <a:p>
            <a:r>
              <a:rPr lang="en-US" dirty="0" smtClean="0"/>
              <a:t>Custom Libraries: </a:t>
            </a:r>
          </a:p>
          <a:p>
            <a:pPr lvl="1"/>
            <a:r>
              <a:rPr lang="en-US" dirty="0" smtClean="0"/>
              <a:t>Create reusable custom activities in Visual Studio and integrate them into </a:t>
            </a:r>
            <a:r>
              <a:rPr lang="en-US" dirty="0" err="1" smtClean="0"/>
              <a:t>UiPath</a:t>
            </a:r>
            <a:r>
              <a:rPr lang="en-US" dirty="0" smtClean="0"/>
              <a:t> workflows. </a:t>
            </a:r>
          </a:p>
          <a:p>
            <a:r>
              <a:rPr lang="en-US" dirty="0" smtClean="0"/>
              <a:t> Custom Activities: </a:t>
            </a:r>
          </a:p>
          <a:p>
            <a:pPr lvl="1"/>
            <a:r>
              <a:rPr lang="en-US" dirty="0" smtClean="0"/>
              <a:t>Use the Invoke Code activity to write custom code in </a:t>
            </a:r>
            <a:r>
              <a:rPr lang="en-US" dirty="0" err="1" smtClean="0"/>
              <a:t>VB.Net</a:t>
            </a:r>
            <a:r>
              <a:rPr lang="en-US" dirty="0" smtClean="0"/>
              <a:t>, C#, or Python, enabling you to extend the functionality of </a:t>
            </a:r>
            <a:r>
              <a:rPr lang="en-US" dirty="0" err="1" smtClean="0"/>
              <a:t>UiPath</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and AI Integration</a:t>
            </a:r>
            <a:endParaRPr lang="en-US" dirty="0"/>
          </a:p>
        </p:txBody>
      </p:sp>
      <p:sp>
        <p:nvSpPr>
          <p:cNvPr id="3" name="Content Placeholder 2"/>
          <p:cNvSpPr>
            <a:spLocks noGrp="1"/>
          </p:cNvSpPr>
          <p:nvPr>
            <p:ph idx="1"/>
          </p:nvPr>
        </p:nvSpPr>
        <p:spPr/>
        <p:txBody>
          <a:bodyPr/>
          <a:lstStyle/>
          <a:p>
            <a:r>
              <a:rPr lang="en-US" dirty="0" smtClean="0"/>
              <a:t>AI Fabric: Integrate machine learning models to enhance decision-making and processing in </a:t>
            </a:r>
            <a:r>
              <a:rPr lang="en-US" dirty="0" err="1" smtClean="0"/>
              <a:t>UiPath</a:t>
            </a:r>
            <a:r>
              <a:rPr lang="en-US" dirty="0" smtClean="0"/>
              <a:t> workflows with AI models, robots can analyze documents, classify data, and recognize images. </a:t>
            </a:r>
          </a:p>
          <a:p>
            <a:r>
              <a:rPr lang="en-US" dirty="0" smtClean="0"/>
              <a:t> Document Understanding: A suite of activities designed to extract information from structured, semi-structured, and unstructured documents using AI and machine learning techniques.</a:t>
            </a:r>
          </a:p>
          <a:p>
            <a:r>
              <a:rPr lang="en-US" dirty="0" smtClean="0"/>
              <a:t> Use </a:t>
            </a:r>
            <a:r>
              <a:rPr lang="en-US" dirty="0" err="1" smtClean="0"/>
              <a:t>UiPath’s</a:t>
            </a:r>
            <a:r>
              <a:rPr lang="en-US" dirty="0" smtClean="0"/>
              <a:t> AI Center to train, deploy, and manage models, enabling robots to work with complex data types.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Data Manipulation and Processing: </a:t>
            </a:r>
            <a:br>
              <a:rPr lang="en-US" dirty="0" smtClean="0"/>
            </a:br>
            <a:endParaRPr lang="en-US" dirty="0"/>
          </a:p>
        </p:txBody>
      </p:sp>
      <p:sp>
        <p:nvSpPr>
          <p:cNvPr id="3" name="Content Placeholder 2"/>
          <p:cNvSpPr>
            <a:spLocks noGrp="1"/>
          </p:cNvSpPr>
          <p:nvPr>
            <p:ph idx="1"/>
          </p:nvPr>
        </p:nvSpPr>
        <p:spPr/>
        <p:txBody>
          <a:bodyPr/>
          <a:lstStyle/>
          <a:p>
            <a:r>
              <a:rPr lang="en-US" dirty="0" smtClean="0"/>
              <a:t>Use advanced Data Scraping techniques, including scraping from non-HTML sources like PDFs, images, or text files.</a:t>
            </a:r>
          </a:p>
          <a:p>
            <a:r>
              <a:rPr lang="en-US" dirty="0" smtClean="0"/>
              <a:t> Employ Regular Expressions (</a:t>
            </a:r>
            <a:r>
              <a:rPr lang="en-US" dirty="0" err="1" smtClean="0"/>
              <a:t>Regex</a:t>
            </a:r>
            <a:r>
              <a:rPr lang="en-US" dirty="0" smtClean="0"/>
              <a:t>) for text manipulation to clean and format data more efficiently. </a:t>
            </a:r>
          </a:p>
          <a:p>
            <a:r>
              <a:rPr lang="en-US" dirty="0" smtClean="0"/>
              <a:t> Use DataTables for handling structured data. </a:t>
            </a:r>
          </a:p>
          <a:p>
            <a:r>
              <a:rPr lang="en-US" dirty="0" smtClean="0"/>
              <a:t>Advanced data manipulation techniques include filtering, sorting, merging, and aggregating data.</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Re-framework:</a:t>
            </a:r>
            <a:endParaRPr lang="en-US" dirty="0"/>
          </a:p>
        </p:txBody>
      </p:sp>
      <p:sp>
        <p:nvSpPr>
          <p:cNvPr id="3" name="Content Placeholder 2"/>
          <p:cNvSpPr>
            <a:spLocks noGrp="1"/>
          </p:cNvSpPr>
          <p:nvPr>
            <p:ph idx="1"/>
          </p:nvPr>
        </p:nvSpPr>
        <p:spPr/>
        <p:txBody>
          <a:bodyPr/>
          <a:lstStyle/>
          <a:p>
            <a:r>
              <a:rPr lang="en-US" dirty="0" smtClean="0"/>
              <a:t> The Robotic Enterprise Framework (</a:t>
            </a:r>
            <a:r>
              <a:rPr lang="en-US" dirty="0" err="1" smtClean="0"/>
              <a:t>REFramework</a:t>
            </a:r>
            <a:r>
              <a:rPr lang="en-US" dirty="0" smtClean="0"/>
              <a:t>) is a template in </a:t>
            </a:r>
            <a:r>
              <a:rPr lang="en-US" dirty="0" err="1" smtClean="0"/>
              <a:t>UiPath</a:t>
            </a:r>
            <a:r>
              <a:rPr lang="en-US" dirty="0" smtClean="0"/>
              <a:t> used to build robust, scalable, and reusable workflows. </a:t>
            </a:r>
          </a:p>
          <a:p>
            <a:r>
              <a:rPr lang="en-US" dirty="0" smtClean="0"/>
              <a:t>It includes state machines and pre-built structures for managing exceptions and logging.</a:t>
            </a:r>
          </a:p>
          <a:p>
            <a:r>
              <a:rPr lang="en-US" dirty="0" smtClean="0"/>
              <a:t>The </a:t>
            </a:r>
            <a:r>
              <a:rPr lang="en-US" dirty="0" err="1" smtClean="0"/>
              <a:t>REFramework</a:t>
            </a:r>
            <a:r>
              <a:rPr lang="en-US" dirty="0" smtClean="0"/>
              <a:t> is particularly useful for processes requiring multiple iterations over large amounts of data or interacting with queues in Orchestrator</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 Integration:</a:t>
            </a:r>
            <a:endParaRPr lang="en-US" dirty="0"/>
          </a:p>
        </p:txBody>
      </p:sp>
      <p:sp>
        <p:nvSpPr>
          <p:cNvPr id="3" name="Content Placeholder 2"/>
          <p:cNvSpPr>
            <a:spLocks noGrp="1"/>
          </p:cNvSpPr>
          <p:nvPr>
            <p:ph idx="1"/>
          </p:nvPr>
        </p:nvSpPr>
        <p:spPr/>
        <p:txBody>
          <a:bodyPr/>
          <a:lstStyle/>
          <a:p>
            <a:r>
              <a:rPr lang="en-US" dirty="0" err="1" smtClean="0"/>
              <a:t>UiPath</a:t>
            </a:r>
            <a:r>
              <a:rPr lang="en-US" dirty="0" smtClean="0"/>
              <a:t> can integrate with various third-party systems using HTTP Request and Web Services activities. </a:t>
            </a:r>
          </a:p>
          <a:p>
            <a:r>
              <a:rPr lang="en-US" dirty="0" smtClean="0"/>
              <a:t> With REST and SOAP API activities, you can interact with applications directly, sending and receiving data as needed.</a:t>
            </a:r>
          </a:p>
          <a:p>
            <a:r>
              <a:rPr lang="en-US" dirty="0" smtClean="0"/>
              <a:t> Advanced integration may involve working with authentication tokens, managing session states, and handling web API pagination</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UiPath</a:t>
            </a:r>
            <a:r>
              <a:rPr lang="en-US" dirty="0" smtClean="0"/>
              <a:t> Apps and Dashboards:</a:t>
            </a:r>
            <a:endParaRPr lang="en-US" dirty="0"/>
          </a:p>
        </p:txBody>
      </p:sp>
      <p:sp>
        <p:nvSpPr>
          <p:cNvPr id="3" name="Content Placeholder 2"/>
          <p:cNvSpPr>
            <a:spLocks noGrp="1"/>
          </p:cNvSpPr>
          <p:nvPr>
            <p:ph idx="1"/>
          </p:nvPr>
        </p:nvSpPr>
        <p:spPr/>
        <p:txBody>
          <a:bodyPr/>
          <a:lstStyle/>
          <a:p>
            <a:r>
              <a:rPr lang="en-US" dirty="0" smtClean="0"/>
              <a:t>Use </a:t>
            </a:r>
            <a:r>
              <a:rPr lang="en-US" dirty="0" err="1" smtClean="0"/>
              <a:t>UiPath</a:t>
            </a:r>
            <a:r>
              <a:rPr lang="en-US" dirty="0" smtClean="0"/>
              <a:t> Apps for creating custom applications that interact with RPA workflows. This is useful when you need a user interface for process control. </a:t>
            </a:r>
          </a:p>
          <a:p>
            <a:r>
              <a:rPr lang="en-US" dirty="0" smtClean="0"/>
              <a:t>Use </a:t>
            </a:r>
            <a:r>
              <a:rPr lang="en-US" dirty="0" err="1" smtClean="0"/>
              <a:t>UiPath</a:t>
            </a:r>
            <a:r>
              <a:rPr lang="en-US" dirty="0" smtClean="0"/>
              <a:t> approach for advanced reporting and analytics of automation performance. </a:t>
            </a:r>
          </a:p>
          <a:p>
            <a:r>
              <a:rPr lang="en-US" dirty="0" smtClean="0"/>
              <a:t>Create dashboards to track metrics like robot performance, business outcomes, and process efficiency.</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Citrix Automation &amp; Remote Desktop Automation:</a:t>
            </a:r>
            <a:br>
              <a:rPr lang="en-US" dirty="0" smtClean="0"/>
            </a:br>
            <a:endParaRPr lang="en-US" dirty="0"/>
          </a:p>
        </p:txBody>
      </p:sp>
      <p:sp>
        <p:nvSpPr>
          <p:cNvPr id="3" name="Content Placeholder 2"/>
          <p:cNvSpPr>
            <a:spLocks noGrp="1"/>
          </p:cNvSpPr>
          <p:nvPr>
            <p:ph idx="1"/>
          </p:nvPr>
        </p:nvSpPr>
        <p:spPr/>
        <p:txBody>
          <a:bodyPr/>
          <a:lstStyle/>
          <a:p>
            <a:r>
              <a:rPr lang="en-US" dirty="0" smtClean="0"/>
              <a:t>For Citrix or virtual desktop automation, use Image and OCR (Optical Character Recognition) techniques to read and interact with elements in remote environments where selectors may not be available.</a:t>
            </a:r>
          </a:p>
          <a:p>
            <a:r>
              <a:rPr lang="en-US" dirty="0" smtClean="0"/>
              <a:t> Text and Image-based Automation: Utilize activities like Click Image, Find Image, OCR, and Screen Scraping to automate processes in environments where traditional selectors fail.</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and Best Practices:</a:t>
            </a:r>
            <a:endParaRPr lang="en-US" dirty="0"/>
          </a:p>
        </p:txBody>
      </p:sp>
      <p:sp>
        <p:nvSpPr>
          <p:cNvPr id="3" name="Content Placeholder 2"/>
          <p:cNvSpPr>
            <a:spLocks noGrp="1"/>
          </p:cNvSpPr>
          <p:nvPr>
            <p:ph idx="1"/>
          </p:nvPr>
        </p:nvSpPr>
        <p:spPr/>
        <p:txBody>
          <a:bodyPr/>
          <a:lstStyle/>
          <a:p>
            <a:r>
              <a:rPr lang="en-US" dirty="0" smtClean="0"/>
              <a:t>Always handle sensitive information securely by using Orchestrator Assets and Credential Stores. </a:t>
            </a:r>
          </a:p>
          <a:p>
            <a:r>
              <a:rPr lang="en-US" dirty="0" smtClean="0"/>
              <a:t> Robust Logging: Set up logging for debugging and auditing purposes. The logs should capture necessary data about automation execution and errors.</a:t>
            </a:r>
          </a:p>
          <a:p>
            <a:r>
              <a:rPr lang="en-US" dirty="0" smtClean="0"/>
              <a:t> Environment Isolation: Ensure that your robots are segregated across environments (e.g., development, testing, production).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Control and Collaboration: </a:t>
            </a:r>
            <a:br>
              <a:rPr lang="en-US" dirty="0" smtClean="0"/>
            </a:br>
            <a:endParaRPr lang="en-US" dirty="0"/>
          </a:p>
        </p:txBody>
      </p:sp>
      <p:sp>
        <p:nvSpPr>
          <p:cNvPr id="3" name="Content Placeholder 2"/>
          <p:cNvSpPr>
            <a:spLocks noGrp="1"/>
          </p:cNvSpPr>
          <p:nvPr>
            <p:ph idx="1"/>
          </p:nvPr>
        </p:nvSpPr>
        <p:spPr/>
        <p:txBody>
          <a:bodyPr/>
          <a:lstStyle/>
          <a:p>
            <a:r>
              <a:rPr lang="en-US" dirty="0" smtClean="0"/>
              <a:t>Use </a:t>
            </a:r>
            <a:r>
              <a:rPr lang="en-US" dirty="0" err="1" smtClean="0"/>
              <a:t>Git</a:t>
            </a:r>
            <a:r>
              <a:rPr lang="en-US" dirty="0" smtClean="0"/>
              <a:t> integration in </a:t>
            </a:r>
            <a:r>
              <a:rPr lang="en-US" dirty="0" err="1" smtClean="0"/>
              <a:t>UiPath</a:t>
            </a:r>
            <a:r>
              <a:rPr lang="en-US" dirty="0" smtClean="0"/>
              <a:t> Studio to manage the versioning of automation projects, enabling multiple developers to collaborate on the same project efficiently.</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Containerization with </a:t>
            </a:r>
            <a:r>
              <a:rPr lang="en-US" dirty="0" err="1" smtClean="0"/>
              <a:t>UiPath</a:t>
            </a:r>
            <a:r>
              <a:rPr lang="en-US" dirty="0" smtClean="0"/>
              <a:t> Robots:</a:t>
            </a:r>
            <a:endParaRPr lang="en-US" dirty="0"/>
          </a:p>
        </p:txBody>
      </p:sp>
      <p:sp>
        <p:nvSpPr>
          <p:cNvPr id="3" name="Content Placeholder 2"/>
          <p:cNvSpPr>
            <a:spLocks noGrp="1"/>
          </p:cNvSpPr>
          <p:nvPr>
            <p:ph idx="1"/>
          </p:nvPr>
        </p:nvSpPr>
        <p:spPr/>
        <p:txBody>
          <a:bodyPr/>
          <a:lstStyle/>
          <a:p>
            <a:r>
              <a:rPr lang="en-US" dirty="0" smtClean="0"/>
              <a:t>You can deploy </a:t>
            </a:r>
            <a:r>
              <a:rPr lang="en-US" dirty="0" err="1" smtClean="0"/>
              <a:t>UiPath</a:t>
            </a:r>
            <a:r>
              <a:rPr lang="en-US" dirty="0" smtClean="0"/>
              <a:t> robots in a </a:t>
            </a:r>
            <a:r>
              <a:rPr lang="en-US" dirty="0" err="1" smtClean="0"/>
              <a:t>Docker</a:t>
            </a:r>
            <a:r>
              <a:rPr lang="en-US" dirty="0" smtClean="0"/>
              <a:t> container, which allows you to scale your robots efficiently and deploy in cloud environments. </a:t>
            </a:r>
          </a:p>
          <a:p>
            <a:r>
              <a:rPr lang="en-US" dirty="0" smtClean="0"/>
              <a:t>Containerization simplifies the deployment and maintenance of robots across environments and improves scalability.</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Queue Management:</a:t>
            </a:r>
            <a:endParaRPr lang="en-US" dirty="0"/>
          </a:p>
        </p:txBody>
      </p:sp>
      <p:sp>
        <p:nvSpPr>
          <p:cNvPr id="3" name="Content Placeholder 2"/>
          <p:cNvSpPr>
            <a:spLocks noGrp="1"/>
          </p:cNvSpPr>
          <p:nvPr>
            <p:ph idx="1"/>
          </p:nvPr>
        </p:nvSpPr>
        <p:spPr/>
        <p:txBody>
          <a:bodyPr/>
          <a:lstStyle/>
          <a:p>
            <a:r>
              <a:rPr lang="en-US" dirty="0" smtClean="0"/>
              <a:t>Using Queue Triggers to trigger jobs based on new items in a queue. </a:t>
            </a:r>
          </a:p>
          <a:p>
            <a:r>
              <a:rPr lang="en-US" dirty="0" smtClean="0"/>
              <a:t> Handling complex Queue Retries and Dead Letter Queues for failed items. This is especially useful in high-volume scenarios.</a:t>
            </a:r>
          </a:p>
          <a:p>
            <a:r>
              <a:rPr lang="en-US" dirty="0" smtClean="0"/>
              <a:t> Handling Priority Queues and Dynamic Queue Management to optimize task processing</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smtClean="0"/>
              <a:t>Recorders in </a:t>
            </a:r>
            <a:r>
              <a:rPr lang="en-US" sz="6600" b="1" dirty="0" err="1" smtClean="0"/>
              <a:t>Uipath</a:t>
            </a:r>
            <a:r>
              <a:rPr lang="en-US" sz="6600" b="1" dirty="0" smtClean="0"/>
              <a:t>:</a:t>
            </a:r>
            <a:endParaRPr lang="en-US" sz="6600" b="1" dirty="0"/>
          </a:p>
        </p:txBody>
      </p:sp>
      <p:sp>
        <p:nvSpPr>
          <p:cNvPr id="3" name="Content Placeholder 2"/>
          <p:cNvSpPr>
            <a:spLocks noGrp="1"/>
          </p:cNvSpPr>
          <p:nvPr>
            <p:ph idx="1"/>
          </p:nvPr>
        </p:nvSpPr>
        <p:spPr/>
        <p:txBody>
          <a:bodyPr/>
          <a:lstStyle/>
          <a:p>
            <a:r>
              <a:rPr lang="en-US" dirty="0" smtClean="0"/>
              <a:t>In </a:t>
            </a:r>
            <a:r>
              <a:rPr lang="en-US" dirty="0" err="1" smtClean="0"/>
              <a:t>UiPath</a:t>
            </a:r>
            <a:r>
              <a:rPr lang="en-US" dirty="0" smtClean="0"/>
              <a:t>, Recorders are tools designed to help you quickly capture and automate actions on different types of applications. </a:t>
            </a:r>
          </a:p>
          <a:p>
            <a:r>
              <a:rPr lang="en-US" dirty="0" smtClean="0"/>
              <a:t>They automatically generate workflows by recording user interactions such as clicks, keystrokes, and other UI activities, reducing the effort needed to create automation. </a:t>
            </a:r>
          </a:p>
          <a:p>
            <a:r>
              <a:rPr lang="en-US" dirty="0" err="1" smtClean="0"/>
              <a:t>UiPath</a:t>
            </a:r>
            <a:r>
              <a:rPr lang="en-US" dirty="0" smtClean="0"/>
              <a:t> offers several types of recorders, each optimized for specific environments or scenarios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Recorders in </a:t>
            </a:r>
            <a:r>
              <a:rPr lang="en-US" dirty="0" err="1" smtClean="0"/>
              <a:t>UiPath</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1. Basic Recorder </a:t>
            </a:r>
          </a:p>
          <a:p>
            <a:r>
              <a:rPr lang="en-US" dirty="0" smtClean="0"/>
              <a:t>Purpose: Ideal for simple automation tasks. </a:t>
            </a:r>
          </a:p>
          <a:p>
            <a:r>
              <a:rPr lang="en-US" dirty="0" smtClean="0"/>
              <a:t> Usage: It captures basic interactions such as clicking buttons, typing text, and selecting items from dropdowns. </a:t>
            </a:r>
          </a:p>
          <a:p>
            <a:r>
              <a:rPr lang="en-US" dirty="0" smtClean="0"/>
              <a:t> When to use: This recorder is best used for basic desktop applications and web interactions. </a:t>
            </a:r>
          </a:p>
          <a:p>
            <a:r>
              <a:rPr lang="en-US" dirty="0" smtClean="0"/>
              <a:t> How it works: The Basic Recorder captures interactions and generates a sequence of activities that replicate the user’s actions. </a:t>
            </a:r>
          </a:p>
          <a:p>
            <a:r>
              <a:rPr lang="en-US" b="1" dirty="0" smtClean="0"/>
              <a:t>Steps: </a:t>
            </a:r>
          </a:p>
          <a:p>
            <a:r>
              <a:rPr lang="en-US" dirty="0" smtClean="0"/>
              <a:t>In </a:t>
            </a:r>
            <a:r>
              <a:rPr lang="en-US" dirty="0" err="1" smtClean="0"/>
              <a:t>UiPath</a:t>
            </a:r>
            <a:r>
              <a:rPr lang="en-US" dirty="0" smtClean="0"/>
              <a:t> Studio, click on Record → Basic. </a:t>
            </a:r>
          </a:p>
          <a:p>
            <a:r>
              <a:rPr lang="en-US" dirty="0" smtClean="0"/>
              <a:t> Perform the actions you want to automate. </a:t>
            </a:r>
          </a:p>
          <a:p>
            <a:r>
              <a:rPr lang="en-US" dirty="0" smtClean="0"/>
              <a:t> </a:t>
            </a:r>
            <a:r>
              <a:rPr lang="en-US" dirty="0" err="1" smtClean="0"/>
              <a:t>UiPath</a:t>
            </a:r>
            <a:r>
              <a:rPr lang="en-US" dirty="0" smtClean="0"/>
              <a:t> generates activities such as Click, Type Into, Select Item, etc</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Desktop Recorder</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Purpose: Specifically designed for automating desktop applications, including those running on virtualized environments (e.g., Citrix or RDP). </a:t>
            </a:r>
          </a:p>
          <a:p>
            <a:r>
              <a:rPr lang="en-US" dirty="0" smtClean="0"/>
              <a:t>Usage: Ideal for interacting with UI elements on desktop applications where traditional selectors might not work.</a:t>
            </a:r>
          </a:p>
          <a:p>
            <a:r>
              <a:rPr lang="en-US" dirty="0" smtClean="0"/>
              <a:t> How it works: The Desktop Recorder uses selectors (for web or standard desktop apps), image recognition, and OCR (Optical Character Recognition) for virtualized environments. </a:t>
            </a:r>
          </a:p>
          <a:p>
            <a:r>
              <a:rPr lang="en-US" dirty="0" smtClean="0"/>
              <a:t> When to use: Use it when automating desktop applications or applications running in virtual machines where selectors might not be reliable.</a:t>
            </a:r>
          </a:p>
          <a:p>
            <a:r>
              <a:rPr lang="en-US" b="1" dirty="0" smtClean="0"/>
              <a:t> Steps: </a:t>
            </a:r>
          </a:p>
          <a:p>
            <a:r>
              <a:rPr lang="en-US" dirty="0" smtClean="0"/>
              <a:t>Click on Record → Desktop in </a:t>
            </a:r>
            <a:r>
              <a:rPr lang="en-US" dirty="0" err="1" smtClean="0"/>
              <a:t>UiPath</a:t>
            </a:r>
            <a:r>
              <a:rPr lang="en-US" dirty="0" smtClean="0"/>
              <a:t> Studio. </a:t>
            </a:r>
          </a:p>
          <a:p>
            <a:r>
              <a:rPr lang="en-US" dirty="0" smtClean="0"/>
              <a:t> Perform the desired actions in the desktop application.</a:t>
            </a:r>
          </a:p>
          <a:p>
            <a:r>
              <a:rPr lang="en-US" dirty="0" smtClean="0"/>
              <a:t>The recorder generates corresponding activities based on UI interactions.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Web Recorder</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Purpose: Tailored for automating web applications, such as websites and online portals. </a:t>
            </a:r>
          </a:p>
          <a:p>
            <a:r>
              <a:rPr lang="en-US" dirty="0" smtClean="0"/>
              <a:t> Usage: Ideal for automating tasks like form filling, clicking links, or extracting data from web pages.</a:t>
            </a:r>
          </a:p>
          <a:p>
            <a:r>
              <a:rPr lang="en-US" dirty="0" smtClean="0"/>
              <a:t> How it works: The Web Recorder captures interactions with web elements and uses selectors to identify and interact with the elements in the web page. </a:t>
            </a:r>
          </a:p>
          <a:p>
            <a:r>
              <a:rPr lang="en-US" dirty="0" smtClean="0"/>
              <a:t> When to use: Use it when automating tasks in web browsers (e.g., Chrome, Internet Explorer, Edge, Firefox). </a:t>
            </a:r>
          </a:p>
          <a:p>
            <a:r>
              <a:rPr lang="en-US" dirty="0" smtClean="0"/>
              <a:t>Steps: </a:t>
            </a:r>
          </a:p>
          <a:p>
            <a:r>
              <a:rPr lang="en-US" dirty="0" smtClean="0"/>
              <a:t> In </a:t>
            </a:r>
            <a:r>
              <a:rPr lang="en-US" dirty="0" err="1" smtClean="0"/>
              <a:t>UiPath</a:t>
            </a:r>
            <a:r>
              <a:rPr lang="en-US" dirty="0" smtClean="0"/>
              <a:t> Studio, click on Record → Web. </a:t>
            </a:r>
          </a:p>
          <a:p>
            <a:r>
              <a:rPr lang="en-US" dirty="0" smtClean="0"/>
              <a:t> Perform the web-based actions, such as clicking or filling out a form.</a:t>
            </a:r>
          </a:p>
          <a:p>
            <a:r>
              <a:rPr lang="en-US" dirty="0" smtClean="0"/>
              <a:t> The recorder generates appropriate Click, Type Into, and other web-related activities.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Citrix Recorder</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Purpose: Designed for automating tasks in virtualized environments like Citrix or remote desktops. </a:t>
            </a:r>
          </a:p>
          <a:p>
            <a:r>
              <a:rPr lang="en-US" dirty="0" smtClean="0"/>
              <a:t>Usage: Ideal for automating applications running in a remote desktop or Citrix environment, where UI elements are not easily accessible. </a:t>
            </a:r>
          </a:p>
          <a:p>
            <a:r>
              <a:rPr lang="en-US" dirty="0" smtClean="0"/>
              <a:t> How it works: The Citrix Recorder uses image-based automation and OCR for capturing UI interactions, as virtualized environments often do not expose traditional selectors. </a:t>
            </a:r>
          </a:p>
          <a:p>
            <a:r>
              <a:rPr lang="en-US" dirty="0" smtClean="0"/>
              <a:t> When to use: Use this recorder when working with applications in Citrix, Remote Desktop, or virtualized environments. </a:t>
            </a:r>
          </a:p>
          <a:p>
            <a:r>
              <a:rPr lang="en-US" dirty="0" smtClean="0"/>
              <a:t>Steps: </a:t>
            </a:r>
          </a:p>
          <a:p>
            <a:r>
              <a:rPr lang="en-US" dirty="0" smtClean="0"/>
              <a:t> Click on Record → Citrix. </a:t>
            </a:r>
          </a:p>
          <a:p>
            <a:r>
              <a:rPr lang="en-US" dirty="0" smtClean="0"/>
              <a:t>Perform  the actions within the Citrix session.</a:t>
            </a:r>
          </a:p>
          <a:p>
            <a:r>
              <a:rPr lang="en-US" dirty="0" smtClean="0"/>
              <a:t> The recorder uses image recognition and OCR to generate the automation steps.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Action Recorder</a:t>
            </a:r>
            <a:endParaRPr lang="en-US" dirty="0"/>
          </a:p>
        </p:txBody>
      </p:sp>
      <p:sp>
        <p:nvSpPr>
          <p:cNvPr id="3" name="Content Placeholder 2"/>
          <p:cNvSpPr>
            <a:spLocks noGrp="1"/>
          </p:cNvSpPr>
          <p:nvPr>
            <p:ph idx="1"/>
          </p:nvPr>
        </p:nvSpPr>
        <p:spPr/>
        <p:txBody>
          <a:bodyPr/>
          <a:lstStyle/>
          <a:p>
            <a:r>
              <a:rPr lang="en-US" dirty="0" smtClean="0"/>
              <a:t>Purpose: Records specific actions within applications, allowing for more  control over automation. </a:t>
            </a:r>
          </a:p>
          <a:p>
            <a:r>
              <a:rPr lang="en-US" dirty="0" smtClean="0"/>
              <a:t> Usage: Ideal for tasks that involve performing specific actions rather than running an entire process, such as clicking buttons or extracting specific data. </a:t>
            </a:r>
          </a:p>
          <a:p>
            <a:r>
              <a:rPr lang="en-US" dirty="0" smtClean="0"/>
              <a:t> How it works: The Action Recorder captures interactions in real-time and allows you to specify the exact actions you want to automate.</a:t>
            </a:r>
          </a:p>
          <a:p>
            <a:r>
              <a:rPr lang="en-US" dirty="0" smtClean="0"/>
              <a:t> When to use: Use this when you need to focus on specific actions within a process.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Integration Recorder</a:t>
            </a:r>
            <a:endParaRPr lang="en-US" dirty="0"/>
          </a:p>
        </p:txBody>
      </p:sp>
      <p:sp>
        <p:nvSpPr>
          <p:cNvPr id="3" name="Content Placeholder 2"/>
          <p:cNvSpPr>
            <a:spLocks noGrp="1"/>
          </p:cNvSpPr>
          <p:nvPr>
            <p:ph idx="1"/>
          </p:nvPr>
        </p:nvSpPr>
        <p:spPr/>
        <p:txBody>
          <a:bodyPr/>
          <a:lstStyle/>
          <a:p>
            <a:r>
              <a:rPr lang="en-US" dirty="0" smtClean="0"/>
              <a:t>. Purpose: Optimized for automating applications like SAP, Java, or other complex enterprise applications.</a:t>
            </a:r>
          </a:p>
          <a:p>
            <a:r>
              <a:rPr lang="en-US" dirty="0" smtClean="0"/>
              <a:t> Usage: Helps automate specific tasks in specialized platforms that </a:t>
            </a:r>
            <a:r>
              <a:rPr lang="en-US" dirty="0" err="1" smtClean="0"/>
              <a:t>UiPath</a:t>
            </a:r>
            <a:r>
              <a:rPr lang="en-US" dirty="0" smtClean="0"/>
              <a:t> can interact with. </a:t>
            </a:r>
          </a:p>
          <a:p>
            <a:r>
              <a:rPr lang="en-US" dirty="0" smtClean="0"/>
              <a:t>How it works: The App Integration Recorder records actions in these applications, ensuring that selectors and activities are correctly generated for these environments. </a:t>
            </a:r>
          </a:p>
          <a:p>
            <a:r>
              <a:rPr lang="en-US" dirty="0" smtClean="0"/>
              <a:t> When to use: Use this for automating business applications that require specialized integration, such as SAP</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a:t>
            </a:r>
            <a:r>
              <a:rPr lang="en-US" dirty="0" err="1" smtClean="0"/>
              <a:t>UiPath</a:t>
            </a:r>
            <a:r>
              <a:rPr lang="en-US" dirty="0" smtClean="0"/>
              <a:t> Recorders: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Auto-Generated Activities: </a:t>
            </a:r>
            <a:r>
              <a:rPr lang="en-US" dirty="0" smtClean="0"/>
              <a:t>Recorders automatically generate </a:t>
            </a:r>
            <a:r>
              <a:rPr lang="en-US" dirty="0" err="1" smtClean="0"/>
              <a:t>UiPath</a:t>
            </a:r>
            <a:r>
              <a:rPr lang="en-US" dirty="0" smtClean="0"/>
              <a:t> activities (e.g., Click, Type Into, Select Item) based on the actions you perform. </a:t>
            </a:r>
          </a:p>
          <a:p>
            <a:pPr algn="just"/>
            <a:r>
              <a:rPr lang="en-US" dirty="0" smtClean="0"/>
              <a:t> </a:t>
            </a:r>
            <a:r>
              <a:rPr lang="en-US" b="1" dirty="0" smtClean="0"/>
              <a:t>Resilient Selectors: </a:t>
            </a:r>
            <a:r>
              <a:rPr lang="en-US" dirty="0" smtClean="0"/>
              <a:t>Recorders use selectors to identify UI elements. The generated selectors are often designed to be resilient, using stable attributes where possible to ensure the automation can handle minor changes in the application. </a:t>
            </a:r>
          </a:p>
          <a:p>
            <a:pPr algn="just"/>
            <a:r>
              <a:rPr lang="en-US" dirty="0" smtClean="0"/>
              <a:t> </a:t>
            </a:r>
            <a:r>
              <a:rPr lang="en-US" b="1" dirty="0" smtClean="0"/>
              <a:t>Image</a:t>
            </a:r>
            <a:r>
              <a:rPr lang="en-US" dirty="0" smtClean="0"/>
              <a:t> </a:t>
            </a:r>
            <a:r>
              <a:rPr lang="en-US" b="1" dirty="0" smtClean="0"/>
              <a:t>and OCR Recognition: </a:t>
            </a:r>
            <a:r>
              <a:rPr lang="en-US" dirty="0" smtClean="0"/>
              <a:t>For environments where traditional selectors are not available (e.g., Citrix, remote desktops), </a:t>
            </a:r>
            <a:r>
              <a:rPr lang="en-US" dirty="0" err="1" smtClean="0"/>
              <a:t>UiPath</a:t>
            </a:r>
            <a:r>
              <a:rPr lang="en-US" dirty="0" smtClean="0"/>
              <a:t> uses image recognition and OCR to identify elements on the screen and interact with them. </a:t>
            </a:r>
          </a:p>
          <a:p>
            <a:pPr algn="just"/>
            <a:r>
              <a:rPr lang="en-US" dirty="0" smtClean="0"/>
              <a:t> </a:t>
            </a:r>
            <a:r>
              <a:rPr lang="en-US" b="1" dirty="0" smtClean="0"/>
              <a:t>Smart Waits: </a:t>
            </a:r>
            <a:r>
              <a:rPr lang="en-US" dirty="0" err="1" smtClean="0"/>
              <a:t>UiPath</a:t>
            </a:r>
            <a:r>
              <a:rPr lang="en-US" dirty="0" smtClean="0"/>
              <a:t> automatically inserts smart wait mechanisms to ensure that the robot waits for elements to appear or for actions to complete before proceeding.</a:t>
            </a:r>
          </a:p>
          <a:p>
            <a:pPr algn="just"/>
            <a:r>
              <a:rPr lang="en-US" b="1" dirty="0" smtClean="0"/>
              <a:t> Easy Customization: </a:t>
            </a:r>
            <a:r>
              <a:rPr lang="en-US" dirty="0" smtClean="0"/>
              <a:t>After recording, you can fine-tune the generated workflow by modifying selectors, adding error handling, or optimizing the workflow logic.</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840" y="2437765"/>
            <a:ext cx="10515600" cy="1325563"/>
          </a:xfrm>
        </p:spPr>
        <p:txBody>
          <a:bodyPr/>
          <a:lstStyle/>
          <a:p>
            <a:pPr algn="ctr"/>
            <a:r>
              <a:rPr lang="en-US" b="1" dirty="0" smtClean="0"/>
              <a:t>BEYOND THE SYLLABUS</a:t>
            </a:r>
            <a:r>
              <a:rPr lang="en-US" dirty="0" smtClean="0"/>
              <a:t/>
            </a:r>
            <a:br>
              <a:rPr lang="en-US" dirty="0" smtClean="0"/>
            </a:b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665DA2-5530-AB76-B77F-B17B2E0699B4}"/>
              </a:ext>
            </a:extLst>
          </p:cNvPr>
          <p:cNvSpPr>
            <a:spLocks noGrp="1"/>
          </p:cNvSpPr>
          <p:nvPr>
            <p:ph type="title"/>
          </p:nvPr>
        </p:nvSpPr>
        <p:spPr/>
        <p:txBody>
          <a:bodyPr/>
          <a:lstStyle/>
          <a:p>
            <a:r>
              <a:rPr lang="en-IN" sz="4400" b="1" i="1" u="sng" kern="100" dirty="0">
                <a:effectLst/>
                <a:latin typeface="Calibri" panose="020F0502020204030204" pitchFamily="34" charset="0"/>
                <a:ea typeface="Calibri" panose="020F0502020204030204" pitchFamily="34" charset="0"/>
                <a:cs typeface="Mangal" panose="02040503050203030202" pitchFamily="18" charset="0"/>
              </a:rPr>
              <a:t>App Recorder</a:t>
            </a:r>
            <a:r>
              <a:rPr lang="en-IN" sz="4400" i="1" u="sng" kern="100" dirty="0">
                <a:effectLst/>
                <a:latin typeface="Calibri" panose="020F0502020204030204" pitchFamily="34" charset="0"/>
                <a:ea typeface="Calibri" panose="020F0502020204030204" pitchFamily="34" charset="0"/>
                <a:cs typeface="Mangal" panose="02040503050203030202" pitchFamily="18" charset="0"/>
              </a:rPr>
              <a:t> and </a:t>
            </a:r>
            <a:r>
              <a:rPr lang="en-IN" sz="4400" b="1" i="1" u="sng" kern="100" dirty="0">
                <a:effectLst/>
                <a:latin typeface="Calibri" panose="020F0502020204030204" pitchFamily="34" charset="0"/>
                <a:ea typeface="Calibri" panose="020F0502020204030204" pitchFamily="34" charset="0"/>
                <a:cs typeface="Mangal" panose="02040503050203030202" pitchFamily="18" charset="0"/>
              </a:rPr>
              <a:t>Web Recorder</a:t>
            </a:r>
            <a:r>
              <a:rPr lang="en-US" sz="4400" kern="100" dirty="0">
                <a:effectLst/>
                <a:latin typeface="Calibri" panose="020F0502020204030204" pitchFamily="34" charset="0"/>
                <a:ea typeface="Calibri" panose="020F0502020204030204" pitchFamily="34" charset="0"/>
                <a:cs typeface="Mangal" panose="02040503050203030202" pitchFamily="18" charset="0"/>
              </a:rPr>
              <a:t/>
            </a:r>
            <a:br>
              <a:rPr lang="en-US" sz="44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 xmlns:a16="http://schemas.microsoft.com/office/drawing/2014/main" id="{AB9817F2-1AE9-4550-9387-23EEB071E8B1}"/>
              </a:ext>
            </a:extLst>
          </p:cNvPr>
          <p:cNvSpPr>
            <a:spLocks noGrp="1"/>
          </p:cNvSpPr>
          <p:nvPr>
            <p:ph idx="1"/>
          </p:nvPr>
        </p:nvSpPr>
        <p:spPr>
          <a:xfrm>
            <a:off x="838200" y="1391920"/>
            <a:ext cx="10515600" cy="4785043"/>
          </a:xfrm>
        </p:spPr>
        <p:txBody>
          <a:bodyPr>
            <a:normAutofit fontScale="92500" lnSpcReduction="10000"/>
          </a:bodyPr>
          <a:lstStyle/>
          <a:p>
            <a:pPr marL="0" marR="0" indent="0">
              <a:lnSpc>
                <a:spcPct val="107000"/>
              </a:lnSpc>
              <a:spcAft>
                <a:spcPts val="800"/>
              </a:spcAft>
              <a:buNone/>
            </a:pP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In </a:t>
            </a:r>
            <a:r>
              <a:rPr lang="en-IN" sz="2000" b="1" kern="100" dirty="0">
                <a:effectLst/>
                <a:latin typeface="Calibri" panose="020F0502020204030204" pitchFamily="34" charset="0"/>
                <a:ea typeface="Calibri" panose="020F0502020204030204" pitchFamily="34" charset="0"/>
                <a:cs typeface="Mangal" panose="02040503050203030202" pitchFamily="18" charset="0"/>
              </a:rPr>
              <a:t>UiPath Studio</a:t>
            </a:r>
            <a:r>
              <a:rPr lang="en-IN" sz="2000" kern="100" dirty="0">
                <a:effectLst/>
                <a:latin typeface="Calibri" panose="020F0502020204030204" pitchFamily="34" charset="0"/>
                <a:ea typeface="Calibri" panose="020F0502020204030204" pitchFamily="34" charset="0"/>
                <a:cs typeface="Mangal" panose="02040503050203030202" pitchFamily="18" charset="0"/>
              </a:rPr>
              <a:t>, the </a:t>
            </a:r>
            <a:r>
              <a:rPr lang="en-IN" sz="2000" b="1" kern="100" dirty="0">
                <a:effectLst/>
                <a:latin typeface="Calibri" panose="020F0502020204030204" pitchFamily="34" charset="0"/>
                <a:ea typeface="Calibri" panose="020F0502020204030204" pitchFamily="34" charset="0"/>
                <a:cs typeface="Mangal" panose="02040503050203030202" pitchFamily="18" charset="0"/>
              </a:rPr>
              <a:t>App Recorder</a:t>
            </a:r>
            <a:r>
              <a:rPr lang="en-IN" sz="2000" kern="100" dirty="0">
                <a:effectLst/>
                <a:latin typeface="Calibri" panose="020F0502020204030204" pitchFamily="34" charset="0"/>
                <a:ea typeface="Calibri" panose="020F0502020204030204" pitchFamily="34" charset="0"/>
                <a:cs typeface="Mangal" panose="02040503050203030202" pitchFamily="18" charset="0"/>
              </a:rPr>
              <a:t> and </a:t>
            </a:r>
            <a:r>
              <a:rPr lang="en-IN" sz="2000" b="1" kern="100" dirty="0">
                <a:effectLst/>
                <a:latin typeface="Calibri" panose="020F0502020204030204" pitchFamily="34" charset="0"/>
                <a:ea typeface="Calibri" panose="020F0502020204030204" pitchFamily="34" charset="0"/>
                <a:cs typeface="Mangal" panose="02040503050203030202" pitchFamily="18" charset="0"/>
              </a:rPr>
              <a:t>Web Recorder</a:t>
            </a:r>
            <a:r>
              <a:rPr lang="en-IN" sz="2000" kern="100" dirty="0">
                <a:effectLst/>
                <a:latin typeface="Calibri" panose="020F0502020204030204" pitchFamily="34" charset="0"/>
                <a:ea typeface="Calibri" panose="020F0502020204030204" pitchFamily="34" charset="0"/>
                <a:cs typeface="Mangal" panose="02040503050203030202" pitchFamily="18" charset="0"/>
              </a:rPr>
              <a:t> are two specialized tools designed to automate interactions with desktop and web applications. </a:t>
            </a: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Both record and generate automation workflows, but they are tailored to different types of applications. </a:t>
            </a: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Here’s a breakdown of each:</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000" b="1" kern="100" dirty="0">
                <a:effectLst/>
                <a:latin typeface="Calibri" panose="020F0502020204030204" pitchFamily="34" charset="0"/>
                <a:ea typeface="Calibri" panose="020F0502020204030204" pitchFamily="34" charset="0"/>
                <a:cs typeface="Mangal" panose="02040503050203030202" pitchFamily="18" charset="0"/>
              </a:rPr>
              <a:t>App Recorder</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The </a:t>
            </a:r>
            <a:r>
              <a:rPr lang="en-IN" sz="2000" b="1" kern="100" dirty="0">
                <a:effectLst/>
                <a:latin typeface="Calibri" panose="020F0502020204030204" pitchFamily="34" charset="0"/>
                <a:ea typeface="Calibri" panose="020F0502020204030204" pitchFamily="34" charset="0"/>
                <a:cs typeface="Mangal" panose="02040503050203030202" pitchFamily="18" charset="0"/>
              </a:rPr>
              <a:t>App Recorder</a:t>
            </a:r>
            <a:r>
              <a:rPr lang="en-IN" sz="2000" kern="100" dirty="0">
                <a:effectLst/>
                <a:latin typeface="Calibri" panose="020F0502020204030204" pitchFamily="34" charset="0"/>
                <a:ea typeface="Calibri" panose="020F0502020204030204" pitchFamily="34" charset="0"/>
                <a:cs typeface="Mangal" panose="02040503050203030202" pitchFamily="18" charset="0"/>
              </a:rPr>
              <a:t> in UiPath is designed to automate </a:t>
            </a:r>
            <a:r>
              <a:rPr lang="en-IN" sz="2000" b="1" kern="100" dirty="0">
                <a:effectLst/>
                <a:latin typeface="Calibri" panose="020F0502020204030204" pitchFamily="34" charset="0"/>
                <a:ea typeface="Calibri" panose="020F0502020204030204" pitchFamily="34" charset="0"/>
                <a:cs typeface="Mangal" panose="02040503050203030202" pitchFamily="18" charset="0"/>
              </a:rPr>
              <a:t>desktop applications</a:t>
            </a:r>
            <a:r>
              <a:rPr lang="en-IN" sz="2000" kern="100" dirty="0">
                <a:effectLst/>
                <a:latin typeface="Calibri" panose="020F0502020204030204" pitchFamily="34" charset="0"/>
                <a:ea typeface="Calibri" panose="020F0502020204030204" pitchFamily="34" charset="0"/>
                <a:cs typeface="Mangal" panose="02040503050203030202" pitchFamily="18" charset="0"/>
              </a:rPr>
              <a:t> (Windows, Citrix, and other native applications). It simplifies the process of automating tasks within desktop environments. </a:t>
            </a: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The App Recorder automatically captures actions and generates activities to interact with UI elements of desktop applications.</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997321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5A1B413-37FA-C6C2-B8F8-374C8569BC07}"/>
              </a:ext>
            </a:extLst>
          </p:cNvPr>
          <p:cNvSpPr>
            <a:spLocks noGrp="1"/>
          </p:cNvSpPr>
          <p:nvPr>
            <p:ph idx="1"/>
          </p:nvPr>
        </p:nvSpPr>
        <p:spPr>
          <a:xfrm>
            <a:off x="553720" y="474344"/>
            <a:ext cx="10515600" cy="5621656"/>
          </a:xfrm>
        </p:spPr>
        <p:txBody>
          <a:bodyPr>
            <a:normAutofit fontScale="70000" lnSpcReduction="20000"/>
          </a:bodyPr>
          <a:lstStyle/>
          <a:p>
            <a:pPr marL="0" marR="0">
              <a:lnSpc>
                <a:spcPct val="107000"/>
              </a:lnSpc>
              <a:spcAft>
                <a:spcPts val="800"/>
              </a:spcAft>
            </a:pPr>
            <a:r>
              <a:rPr lang="en-IN" sz="2300" b="1" kern="100" dirty="0">
                <a:effectLst/>
                <a:latin typeface="Calibri" panose="020F0502020204030204" pitchFamily="34" charset="0"/>
                <a:ea typeface="Calibri" panose="020F0502020204030204" pitchFamily="34" charset="0"/>
                <a:cs typeface="Mangal" panose="02040503050203030202" pitchFamily="18" charset="0"/>
              </a:rPr>
              <a:t>Key Features of the App Recorder:</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Desktop Automation</a:t>
            </a:r>
            <a:r>
              <a:rPr lang="en-IN" sz="2300" kern="100" dirty="0">
                <a:effectLst/>
                <a:latin typeface="Calibri" panose="020F0502020204030204" pitchFamily="34" charset="0"/>
                <a:ea typeface="Calibri" panose="020F0502020204030204" pitchFamily="34" charset="0"/>
                <a:cs typeface="Mangal" panose="02040503050203030202" pitchFamily="18" charset="0"/>
              </a:rPr>
              <a:t>: Primarily used for Windows-based applications and other desktop software.</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UI Elements</a:t>
            </a:r>
            <a:r>
              <a:rPr lang="en-IN" sz="2300" kern="100" dirty="0">
                <a:effectLst/>
                <a:latin typeface="Calibri" panose="020F0502020204030204" pitchFamily="34" charset="0"/>
                <a:ea typeface="Calibri" panose="020F0502020204030204" pitchFamily="34" charset="0"/>
                <a:cs typeface="Mangal" panose="02040503050203030202" pitchFamily="18" charset="0"/>
              </a:rPr>
              <a:t>: Captures interactions with UI elements like buttons, text boxes, drop-down menus, etc.</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Automatic Activity Generation</a:t>
            </a:r>
            <a:r>
              <a:rPr lang="en-IN" sz="2300" kern="100" dirty="0">
                <a:effectLst/>
                <a:latin typeface="Calibri" panose="020F0502020204030204" pitchFamily="34" charset="0"/>
                <a:ea typeface="Calibri" panose="020F0502020204030204" pitchFamily="34" charset="0"/>
                <a:cs typeface="Mangal" panose="02040503050203030202" pitchFamily="18" charset="0"/>
              </a:rPr>
              <a:t>: Automatically generates activities such as Click, Type Into, and Get Text based on the recorded actions.</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Support for Desktop Apps</a:t>
            </a:r>
            <a:r>
              <a:rPr lang="en-IN" sz="2300" kern="100" dirty="0">
                <a:effectLst/>
                <a:latin typeface="Calibri" panose="020F0502020204030204" pitchFamily="34" charset="0"/>
                <a:ea typeface="Calibri" panose="020F0502020204030204" pitchFamily="34" charset="0"/>
                <a:cs typeface="Mangal" panose="02040503050203030202" pitchFamily="18" charset="0"/>
              </a:rPr>
              <a:t>: Works seamlessly with applications like MS Word, Excel, SAP, custom desktop applications, and more.</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Image-Based Recognition</a:t>
            </a:r>
            <a:r>
              <a:rPr lang="en-IN" sz="2300" kern="100" dirty="0">
                <a:effectLst/>
                <a:latin typeface="Calibri" panose="020F0502020204030204" pitchFamily="34" charset="0"/>
                <a:ea typeface="Calibri" panose="020F0502020204030204" pitchFamily="34" charset="0"/>
                <a:cs typeface="Mangal" panose="02040503050203030202" pitchFamily="18" charset="0"/>
              </a:rPr>
              <a:t>: In some cases, the recorder uses image-based recognition to identify elements if they don’t have stable selectors.</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300" b="1" kern="100" dirty="0">
                <a:effectLst/>
                <a:latin typeface="Calibri" panose="020F0502020204030204" pitchFamily="34" charset="0"/>
                <a:ea typeface="Calibri" panose="020F0502020204030204" pitchFamily="34" charset="0"/>
                <a:cs typeface="Mangal" panose="02040503050203030202" pitchFamily="18" charset="0"/>
              </a:rPr>
              <a:t>Object Spy</a:t>
            </a:r>
            <a:r>
              <a:rPr lang="en-IN" sz="2300" kern="100" dirty="0">
                <a:effectLst/>
                <a:latin typeface="Calibri" panose="020F0502020204030204" pitchFamily="34" charset="0"/>
                <a:ea typeface="Calibri" panose="020F0502020204030204" pitchFamily="34" charset="0"/>
                <a:cs typeface="Mangal" panose="02040503050203030202" pitchFamily="18" charset="0"/>
              </a:rPr>
              <a:t>: Allows you to explore and spy UI elements for more precise interaction within the application.</a:t>
            </a:r>
          </a:p>
          <a:p>
            <a:pPr marL="0" marR="0">
              <a:lnSpc>
                <a:spcPct val="107000"/>
              </a:lnSpc>
              <a:spcAft>
                <a:spcPts val="800"/>
              </a:spcAft>
            </a:pPr>
            <a:r>
              <a:rPr lang="en-IN" sz="2300" b="1" kern="100" dirty="0">
                <a:effectLst/>
                <a:latin typeface="Calibri" panose="020F0502020204030204" pitchFamily="34" charset="0"/>
                <a:ea typeface="Calibri" panose="020F0502020204030204" pitchFamily="34" charset="0"/>
                <a:cs typeface="Mangal" panose="02040503050203030202" pitchFamily="18" charset="0"/>
              </a:rPr>
              <a:t>Common Use Cases:</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2300" kern="100" dirty="0">
                <a:effectLst/>
                <a:latin typeface="Calibri" panose="020F0502020204030204" pitchFamily="34" charset="0"/>
                <a:ea typeface="Calibri" panose="020F0502020204030204" pitchFamily="34" charset="0"/>
                <a:cs typeface="Mangal" panose="02040503050203030202" pitchFamily="18" charset="0"/>
              </a:rPr>
              <a:t>Automating data entry into desktop applications.</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2300" kern="100" dirty="0">
                <a:effectLst/>
                <a:latin typeface="Calibri" panose="020F0502020204030204" pitchFamily="34" charset="0"/>
                <a:ea typeface="Calibri" panose="020F0502020204030204" pitchFamily="34" charset="0"/>
                <a:cs typeface="Mangal" panose="02040503050203030202" pitchFamily="18" charset="0"/>
              </a:rPr>
              <a:t>Navigating through Windows-based apps (e.g., Excel, Word).</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2300" kern="100" dirty="0">
                <a:effectLst/>
                <a:latin typeface="Calibri" panose="020F0502020204030204" pitchFamily="34" charset="0"/>
                <a:ea typeface="Calibri" panose="020F0502020204030204" pitchFamily="34" charset="0"/>
                <a:cs typeface="Mangal" panose="02040503050203030202" pitchFamily="18" charset="0"/>
              </a:rPr>
              <a:t>Handling windows pop-ups and dialog boxes.</a:t>
            </a:r>
            <a:endParaRPr lang="en-US" sz="23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3057380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356A5B2-8F8C-F8F4-C92F-0E8413018A11}"/>
              </a:ext>
            </a:extLst>
          </p:cNvPr>
          <p:cNvSpPr>
            <a:spLocks noGrp="1"/>
          </p:cNvSpPr>
          <p:nvPr>
            <p:ph idx="1"/>
          </p:nvPr>
        </p:nvSpPr>
        <p:spPr>
          <a:xfrm>
            <a:off x="838200" y="386080"/>
            <a:ext cx="10515600" cy="6096000"/>
          </a:xfrm>
        </p:spPr>
        <p:txBody>
          <a:bodyPr>
            <a:normAutofit fontScale="92500" lnSpcReduction="20000"/>
          </a:bodyPr>
          <a:lstStyle/>
          <a:p>
            <a:pPr marL="0" marR="0">
              <a:lnSpc>
                <a:spcPct val="107000"/>
              </a:lnSpc>
              <a:spcAft>
                <a:spcPts val="800"/>
              </a:spcAft>
            </a:pPr>
            <a:r>
              <a:rPr lang="en-IN" sz="2100" b="1" kern="100" dirty="0">
                <a:effectLst/>
                <a:latin typeface="Calibri" panose="020F0502020204030204" pitchFamily="34" charset="0"/>
                <a:ea typeface="Calibri" panose="020F0502020204030204" pitchFamily="34" charset="0"/>
                <a:cs typeface="Mangal" panose="02040503050203030202" pitchFamily="18" charset="0"/>
              </a:rPr>
              <a:t>Web Recorder</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100" kern="100" dirty="0">
                <a:effectLst/>
                <a:latin typeface="Calibri" panose="020F0502020204030204" pitchFamily="34" charset="0"/>
                <a:ea typeface="Calibri" panose="020F0502020204030204" pitchFamily="34" charset="0"/>
                <a:cs typeface="Mangal" panose="02040503050203030202" pitchFamily="18" charset="0"/>
              </a:rPr>
              <a:t>The </a:t>
            </a:r>
            <a:r>
              <a:rPr lang="en-IN" sz="2100" b="1" kern="100" dirty="0">
                <a:effectLst/>
                <a:latin typeface="Calibri" panose="020F0502020204030204" pitchFamily="34" charset="0"/>
                <a:ea typeface="Calibri" panose="020F0502020204030204" pitchFamily="34" charset="0"/>
                <a:cs typeface="Mangal" panose="02040503050203030202" pitchFamily="18" charset="0"/>
              </a:rPr>
              <a:t>Web Recorder</a:t>
            </a:r>
            <a:r>
              <a:rPr lang="en-IN" sz="2100" kern="100" dirty="0">
                <a:effectLst/>
                <a:latin typeface="Calibri" panose="020F0502020204030204" pitchFamily="34" charset="0"/>
                <a:ea typeface="Calibri" panose="020F0502020204030204" pitchFamily="34" charset="0"/>
                <a:cs typeface="Mangal" panose="02040503050203030202" pitchFamily="18" charset="0"/>
              </a:rPr>
              <a:t> is designed to automate </a:t>
            </a:r>
            <a:r>
              <a:rPr lang="en-IN" sz="2100" b="1" kern="100" dirty="0">
                <a:effectLst/>
                <a:latin typeface="Calibri" panose="020F0502020204030204" pitchFamily="34" charset="0"/>
                <a:ea typeface="Calibri" panose="020F0502020204030204" pitchFamily="34" charset="0"/>
                <a:cs typeface="Mangal" panose="02040503050203030202" pitchFamily="18" charset="0"/>
              </a:rPr>
              <a:t>web-based applications</a:t>
            </a:r>
            <a:r>
              <a:rPr lang="en-IN" sz="2100" kern="100" dirty="0">
                <a:effectLst/>
                <a:latin typeface="Calibri" panose="020F0502020204030204" pitchFamily="34" charset="0"/>
                <a:ea typeface="Calibri" panose="020F0502020204030204" pitchFamily="34" charset="0"/>
                <a:cs typeface="Mangal" panose="02040503050203030202" pitchFamily="18" charset="0"/>
              </a:rPr>
              <a:t> (such as websites or web portals). It simplifies the automation of tasks that involve interacting with browsers like Google Chrome, Mozilla Firefox, Microsoft Edge, and more.</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100" b="1" kern="100" dirty="0">
                <a:effectLst/>
                <a:latin typeface="Calibri" panose="020F0502020204030204" pitchFamily="34" charset="0"/>
                <a:ea typeface="Calibri" panose="020F0502020204030204" pitchFamily="34" charset="0"/>
                <a:cs typeface="Mangal" panose="02040503050203030202" pitchFamily="18" charset="0"/>
              </a:rPr>
              <a:t>Key Features of the Web Recorder:</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Web Automation</a:t>
            </a:r>
            <a:r>
              <a:rPr lang="en-IN" sz="2100" kern="100" dirty="0">
                <a:effectLst/>
                <a:latin typeface="Calibri" panose="020F0502020204030204" pitchFamily="34" charset="0"/>
                <a:ea typeface="Calibri" panose="020F0502020204030204" pitchFamily="34" charset="0"/>
                <a:cs typeface="Mangal" panose="02040503050203030202" pitchFamily="18" charset="0"/>
              </a:rPr>
              <a:t>: Primarily used for automating tasks in web browsers (e.g., Chrome, Firefox, Edge).</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Browser Interactions</a:t>
            </a:r>
            <a:r>
              <a:rPr lang="en-IN" sz="2100" kern="100" dirty="0">
                <a:effectLst/>
                <a:latin typeface="Calibri" panose="020F0502020204030204" pitchFamily="34" charset="0"/>
                <a:ea typeface="Calibri" panose="020F0502020204030204" pitchFamily="34" charset="0"/>
                <a:cs typeface="Mangal" panose="02040503050203030202" pitchFamily="18" charset="0"/>
              </a:rPr>
              <a:t>: Records actions like clicking links, typing text in input fields, selecting dropdown items, and navigating through web pages.</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Automatic Activity Generation</a:t>
            </a:r>
            <a:r>
              <a:rPr lang="en-IN" sz="2100" kern="100" dirty="0">
                <a:effectLst/>
                <a:latin typeface="Calibri" panose="020F0502020204030204" pitchFamily="34" charset="0"/>
                <a:ea typeface="Calibri" panose="020F0502020204030204" pitchFamily="34" charset="0"/>
                <a:cs typeface="Mangal" panose="02040503050203030202" pitchFamily="18" charset="0"/>
              </a:rPr>
              <a:t>: Automatically creates activities like Click, Type Into, Select Item, and Get Text based on user actions on the webpage.</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Dynamic Selectors</a:t>
            </a:r>
            <a:r>
              <a:rPr lang="en-IN" sz="2100" kern="100" dirty="0">
                <a:effectLst/>
                <a:latin typeface="Calibri" panose="020F0502020204030204" pitchFamily="34" charset="0"/>
                <a:ea typeface="Calibri" panose="020F0502020204030204" pitchFamily="34" charset="0"/>
                <a:cs typeface="Mangal" panose="02040503050203030202" pitchFamily="18" charset="0"/>
              </a:rPr>
              <a:t>: The Web Recorder intelligently generates reliable and dynamic selectors for web elements to ensure stable automation.</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Advanced Features</a:t>
            </a:r>
            <a:r>
              <a:rPr lang="en-IN" sz="2100" kern="100" dirty="0">
                <a:effectLst/>
                <a:latin typeface="Calibri" panose="020F0502020204030204" pitchFamily="34" charset="0"/>
                <a:ea typeface="Calibri" panose="020F0502020204030204" pitchFamily="34" charset="0"/>
                <a:cs typeface="Mangal" panose="02040503050203030202" pitchFamily="18" charset="0"/>
              </a:rPr>
              <a:t>: It also supports handling dynamic content on web pages and can work with elements that may change frequently, such as pop-ups, dynamic lists, etc.</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100" b="1" kern="100" dirty="0">
                <a:effectLst/>
                <a:latin typeface="Calibri" panose="020F0502020204030204" pitchFamily="34" charset="0"/>
                <a:ea typeface="Calibri" panose="020F0502020204030204" pitchFamily="34" charset="0"/>
                <a:cs typeface="Mangal" panose="02040503050203030202" pitchFamily="18" charset="0"/>
              </a:rPr>
              <a:t>Cross-Browser Compatibility</a:t>
            </a:r>
            <a:r>
              <a:rPr lang="en-IN" sz="2100" kern="100" dirty="0">
                <a:effectLst/>
                <a:latin typeface="Calibri" panose="020F0502020204030204" pitchFamily="34" charset="0"/>
                <a:ea typeface="Calibri" panose="020F0502020204030204" pitchFamily="34" charset="0"/>
                <a:cs typeface="Mangal" panose="02040503050203030202" pitchFamily="18" charset="0"/>
              </a:rPr>
              <a:t>: Works across different browsers with the help of specific browser extensions.</a:t>
            </a:r>
            <a:endParaRPr lang="en-US" sz="21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4265153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64E1BD0-0486-1C6D-C4B4-5BACC988054E}"/>
              </a:ext>
            </a:extLst>
          </p:cNvPr>
          <p:cNvSpPr>
            <a:spLocks noGrp="1"/>
          </p:cNvSpPr>
          <p:nvPr>
            <p:ph idx="1"/>
          </p:nvPr>
        </p:nvSpPr>
        <p:spPr/>
        <p:txBody>
          <a:bodyPr/>
          <a:lstStyle/>
          <a:p>
            <a:pPr marL="0" marR="0">
              <a:lnSpc>
                <a:spcPct val="107000"/>
              </a:lnSpc>
              <a:spcAft>
                <a:spcPts val="800"/>
              </a:spcAft>
            </a:pPr>
            <a:r>
              <a:rPr lang="en-IN" sz="1800" b="1" kern="100" dirty="0">
                <a:effectLst/>
                <a:latin typeface="Calibri" panose="020F0502020204030204" pitchFamily="34" charset="0"/>
                <a:ea typeface="Calibri" panose="020F0502020204030204" pitchFamily="34" charset="0"/>
                <a:cs typeface="Mangal" panose="02040503050203030202" pitchFamily="18" charset="0"/>
              </a:rPr>
              <a:t>Common Use Cases:</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Automating data entry into web forms (e.g., submitting information on a website).</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Scraping information from websites.</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Navigating and interacting with online applications or portals.</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r>
              <a:rPr lang="en-IN" sz="1800" dirty="0">
                <a:effectLst/>
                <a:latin typeface="Calibri" panose="020F0502020204030204" pitchFamily="34" charset="0"/>
                <a:ea typeface="Calibri" panose="020F0502020204030204" pitchFamily="34" charset="0"/>
                <a:cs typeface="Mangal" panose="02040503050203030202" pitchFamily="18" charset="0"/>
              </a:rPr>
              <a:t>Automating processes like logging into web applications, filling out forms, or processing online transactions.</a:t>
            </a:r>
            <a:endParaRPr lang="en-IN" dirty="0"/>
          </a:p>
        </p:txBody>
      </p:sp>
    </p:spTree>
    <p:extLst>
      <p:ext uri="{BB962C8B-B14F-4D97-AF65-F5344CB8AC3E}">
        <p14:creationId xmlns="" xmlns:p14="http://schemas.microsoft.com/office/powerpoint/2010/main" val="2388079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68E1F79-9C8F-9593-0FD8-4A00002FD5F7}"/>
              </a:ext>
            </a:extLst>
          </p:cNvPr>
          <p:cNvSpPr>
            <a:spLocks noGrp="1"/>
          </p:cNvSpPr>
          <p:nvPr>
            <p:ph idx="1"/>
          </p:nvPr>
        </p:nvSpPr>
        <p:spPr>
          <a:xfrm>
            <a:off x="838200" y="650240"/>
            <a:ext cx="10515600" cy="5526723"/>
          </a:xfrm>
        </p:spPr>
        <p:txBody>
          <a:bodyPr/>
          <a:lstStyle/>
          <a:p>
            <a:pPr marL="0" marR="0">
              <a:lnSpc>
                <a:spcPct val="107000"/>
              </a:lnSpc>
              <a:spcAft>
                <a:spcPts val="800"/>
              </a:spcAft>
            </a:pPr>
            <a:r>
              <a:rPr lang="en-IN" sz="2000" b="1" kern="100" dirty="0">
                <a:effectLst/>
                <a:latin typeface="Calibri" panose="020F0502020204030204" pitchFamily="34" charset="0"/>
                <a:ea typeface="Calibri" panose="020F0502020204030204" pitchFamily="34" charset="0"/>
                <a:cs typeface="Mangal" panose="02040503050203030202" pitchFamily="18" charset="0"/>
              </a:rPr>
              <a:t>Key Differences Between App Recorder and Web Recorder:</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Type of Application</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App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Focused on automating desktop applications (Windows or Citrix).</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Web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Focused on automating web-based applications or websites within browsers.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Automation Method</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App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Works with desktop UI elements, often using Windows selectors or image-based recognition if necessary.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Web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Works with web elements, generating activities that are tailored to interacting with web-based controls like forms, buttons, links, etc.</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58321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D609980-3187-2E08-936B-16CF494F13E6}"/>
              </a:ext>
            </a:extLst>
          </p:cNvPr>
          <p:cNvSpPr>
            <a:spLocks noGrp="1"/>
          </p:cNvSpPr>
          <p:nvPr>
            <p:ph idx="1"/>
          </p:nvPr>
        </p:nvSpPr>
        <p:spPr>
          <a:xfrm>
            <a:off x="838200" y="1026160"/>
            <a:ext cx="10515600" cy="5150803"/>
          </a:xfrm>
        </p:spPr>
        <p:txBody>
          <a:bodyPr/>
          <a:lstStyle/>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Technologies</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App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Used for native desktop applications.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Web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Works in conjunction with web browsers (requires the appropriate browser extension for full functionality).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Context-Specific Features</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App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Useful for automating Windows applications, including handling desktop popups, window manipulation, etc.</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Web Recorder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Optimized for handling browser-related tasks like handling web page navigation, form submission, etc.</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4207837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5151"/>
            <a:ext cx="10515600" cy="5551812"/>
          </a:xfrm>
        </p:spPr>
        <p:txBody>
          <a:bodyPr>
            <a:normAutofit/>
          </a:bodyPr>
          <a:lstStyle/>
          <a:p>
            <a:pPr lvl="0" algn="just"/>
            <a:r>
              <a:rPr lang="en-IN" sz="2200" b="1" dirty="0" smtClean="0"/>
              <a:t>Context-Specific Features</a:t>
            </a:r>
            <a:r>
              <a:rPr lang="en-IN" sz="2200" dirty="0" smtClean="0"/>
              <a:t>:</a:t>
            </a:r>
            <a:endParaRPr lang="en-US" sz="2200" dirty="0" smtClean="0"/>
          </a:p>
          <a:p>
            <a:pPr lvl="1" algn="just"/>
            <a:r>
              <a:rPr lang="en-IN" sz="2200" b="1" dirty="0" smtClean="0"/>
              <a:t>App Recorder</a:t>
            </a:r>
            <a:r>
              <a:rPr lang="en-IN" sz="2200" dirty="0" smtClean="0"/>
              <a:t>: Useful for automating Windows applications, including handling desktop </a:t>
            </a:r>
            <a:r>
              <a:rPr lang="en-IN" sz="2200" dirty="0" err="1" smtClean="0"/>
              <a:t>popups</a:t>
            </a:r>
            <a:r>
              <a:rPr lang="en-IN" sz="2200" dirty="0" smtClean="0"/>
              <a:t>, window manipulation, etc.</a:t>
            </a:r>
            <a:endParaRPr lang="en-US" sz="2200" dirty="0" smtClean="0"/>
          </a:p>
          <a:p>
            <a:pPr lvl="1" algn="just"/>
            <a:r>
              <a:rPr lang="en-IN" sz="2200" b="1" dirty="0" smtClean="0"/>
              <a:t>Web Recorder</a:t>
            </a:r>
            <a:r>
              <a:rPr lang="en-IN" sz="2200" dirty="0" smtClean="0"/>
              <a:t>: Optimized for handling browser-related tasks like handling web page navigation, form submission, etc.</a:t>
            </a:r>
            <a:endParaRPr lang="en-US" sz="2200" dirty="0" smtClean="0"/>
          </a:p>
          <a:p>
            <a:pPr algn="just"/>
            <a:r>
              <a:rPr lang="en-IN" sz="2200" b="1" dirty="0" smtClean="0"/>
              <a:t>When to Use Which Recorder:</a:t>
            </a:r>
            <a:endParaRPr lang="en-US" sz="2200" dirty="0" smtClean="0"/>
          </a:p>
          <a:p>
            <a:pPr lvl="0" algn="just"/>
            <a:r>
              <a:rPr lang="en-IN" sz="2200" dirty="0" smtClean="0"/>
              <a:t>Use </a:t>
            </a:r>
            <a:r>
              <a:rPr lang="en-IN" sz="2200" b="1" dirty="0" smtClean="0"/>
              <a:t>App Recorder</a:t>
            </a:r>
            <a:r>
              <a:rPr lang="en-IN" sz="2200" dirty="0" smtClean="0"/>
              <a:t> for desktop applications where you need to automate data entry, navigation, or processing in a native Windows environment.</a:t>
            </a:r>
            <a:endParaRPr lang="en-US" sz="2200" dirty="0" smtClean="0"/>
          </a:p>
          <a:p>
            <a:pPr lvl="0" algn="just"/>
            <a:r>
              <a:rPr lang="en-IN" sz="2200" dirty="0" smtClean="0"/>
              <a:t>Use </a:t>
            </a:r>
            <a:r>
              <a:rPr lang="en-IN" sz="2200" b="1" dirty="0" smtClean="0"/>
              <a:t>Web Recorder</a:t>
            </a:r>
            <a:r>
              <a:rPr lang="en-IN" sz="2200" dirty="0" smtClean="0"/>
              <a:t> for automating actions on web browsers, such as interacting with websites, scraping data from pages, or automating browser-based workflows.</a:t>
            </a:r>
            <a:endParaRPr lang="en-US" sz="2200" dirty="0" smtClean="0"/>
          </a:p>
          <a:p>
            <a:pPr algn="just"/>
            <a:r>
              <a:rPr lang="en-IN" sz="2200" dirty="0" smtClean="0"/>
              <a:t>Both recorders in </a:t>
            </a:r>
            <a:r>
              <a:rPr lang="en-IN" sz="2200" dirty="0" err="1" smtClean="0"/>
              <a:t>UiPath</a:t>
            </a:r>
            <a:r>
              <a:rPr lang="en-IN" sz="2200" dirty="0" smtClean="0"/>
              <a:t> provide a user-friendly way to create automation by simply recording actions, which can be customized further with additional activities for more complex workflows.</a:t>
            </a:r>
            <a:endParaRPr lang="en-US" sz="2200"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D10C9B-56CC-F067-1B7E-655F4A8FB540}"/>
              </a:ext>
            </a:extLst>
          </p:cNvPr>
          <p:cNvSpPr>
            <a:spLocks noGrp="1"/>
          </p:cNvSpPr>
          <p:nvPr>
            <p:ph type="title"/>
          </p:nvPr>
        </p:nvSpPr>
        <p:spPr/>
        <p:txBody>
          <a:bodyPr/>
          <a:lstStyle/>
          <a:p>
            <a:r>
              <a:rPr lang="en-IN" sz="4400" b="1" kern="100" dirty="0">
                <a:effectLst/>
                <a:latin typeface="Calibri" panose="020F0502020204030204" pitchFamily="34" charset="0"/>
                <a:ea typeface="Calibri" panose="020F0502020204030204" pitchFamily="34" charset="0"/>
                <a:cs typeface="Mangal" panose="02040503050203030202" pitchFamily="18" charset="0"/>
              </a:rPr>
              <a:t>Input</a:t>
            </a:r>
            <a:r>
              <a:rPr lang="en-IN" sz="4400" kern="100" dirty="0">
                <a:effectLst/>
                <a:latin typeface="Calibri" panose="020F0502020204030204" pitchFamily="34" charset="0"/>
                <a:ea typeface="Calibri" panose="020F0502020204030204" pitchFamily="34" charset="0"/>
                <a:cs typeface="Mangal" panose="02040503050203030202" pitchFamily="18" charset="0"/>
              </a:rPr>
              <a:t> and </a:t>
            </a:r>
            <a:r>
              <a:rPr lang="en-IN" sz="4400" b="1" kern="100" dirty="0">
                <a:effectLst/>
                <a:latin typeface="Calibri" panose="020F0502020204030204" pitchFamily="34" charset="0"/>
                <a:ea typeface="Calibri" panose="020F0502020204030204" pitchFamily="34" charset="0"/>
                <a:cs typeface="Mangal" panose="02040503050203030202" pitchFamily="18" charset="0"/>
              </a:rPr>
              <a:t>Output</a:t>
            </a:r>
            <a:r>
              <a:rPr lang="en-IN" sz="4400" kern="100" dirty="0">
                <a:effectLst/>
                <a:latin typeface="Calibri" panose="020F0502020204030204" pitchFamily="34" charset="0"/>
                <a:ea typeface="Calibri" panose="020F0502020204030204" pitchFamily="34" charset="0"/>
                <a:cs typeface="Mangal" panose="02040503050203030202" pitchFamily="18" charset="0"/>
              </a:rPr>
              <a:t> methods </a:t>
            </a:r>
            <a:r>
              <a:rPr lang="en-US" sz="4400" kern="100" dirty="0">
                <a:effectLst/>
                <a:latin typeface="Calibri" panose="020F0502020204030204" pitchFamily="34" charset="0"/>
                <a:ea typeface="Calibri" panose="020F0502020204030204" pitchFamily="34" charset="0"/>
                <a:cs typeface="Mangal" panose="02040503050203030202" pitchFamily="18" charset="0"/>
              </a:rPr>
              <a:t/>
            </a:r>
            <a:br>
              <a:rPr lang="en-US" sz="44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 xmlns:a16="http://schemas.microsoft.com/office/drawing/2014/main" id="{E38AF9F0-5AA7-BDCE-E14C-DB1E9CAA1928}"/>
              </a:ext>
            </a:extLst>
          </p:cNvPr>
          <p:cNvSpPr>
            <a:spLocks noGrp="1"/>
          </p:cNvSpPr>
          <p:nvPr>
            <p:ph idx="1"/>
          </p:nvPr>
        </p:nvSpPr>
        <p:spPr/>
        <p:txBody>
          <a:bodyPr>
            <a:normAutofit lnSpcReduction="10000"/>
          </a:bodyPr>
          <a:lstStyle/>
          <a:p>
            <a:pPr marL="0" marR="0">
              <a:lnSpc>
                <a:spcPct val="107000"/>
              </a:lnSpc>
              <a:spcAft>
                <a:spcPts val="800"/>
              </a:spcAft>
            </a:pPr>
            <a:r>
              <a:rPr lang="en-IN" sz="1800" b="1" kern="100" dirty="0">
                <a:effectLst/>
                <a:latin typeface="Calibri" panose="020F0502020204030204" pitchFamily="34" charset="0"/>
                <a:ea typeface="Calibri" panose="020F0502020204030204" pitchFamily="34" charset="0"/>
                <a:cs typeface="Mangal" panose="02040503050203030202" pitchFamily="18" charset="0"/>
              </a:rPr>
              <a:t>Input</a:t>
            </a:r>
            <a:r>
              <a:rPr lang="en-IN" sz="1800" kern="100" dirty="0">
                <a:effectLst/>
                <a:latin typeface="Calibri" panose="020F0502020204030204" pitchFamily="34" charset="0"/>
                <a:ea typeface="Calibri" panose="020F0502020204030204" pitchFamily="34" charset="0"/>
                <a:cs typeface="Mangal" panose="02040503050203030202" pitchFamily="18" charset="0"/>
              </a:rPr>
              <a:t> and </a:t>
            </a:r>
            <a:r>
              <a:rPr lang="en-IN" sz="1800" b="1" kern="100" dirty="0">
                <a:effectLst/>
                <a:latin typeface="Calibri" panose="020F0502020204030204" pitchFamily="34" charset="0"/>
                <a:ea typeface="Calibri" panose="020F0502020204030204" pitchFamily="34" charset="0"/>
                <a:cs typeface="Mangal" panose="02040503050203030202" pitchFamily="18" charset="0"/>
              </a:rPr>
              <a:t>Output</a:t>
            </a:r>
            <a:r>
              <a:rPr lang="en-IN" sz="1800" kern="100" dirty="0">
                <a:effectLst/>
                <a:latin typeface="Calibri" panose="020F0502020204030204" pitchFamily="34" charset="0"/>
                <a:ea typeface="Calibri" panose="020F0502020204030204" pitchFamily="34" charset="0"/>
                <a:cs typeface="Mangal" panose="02040503050203030202" pitchFamily="18" charset="0"/>
              </a:rPr>
              <a:t> methods </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1800" kern="100" dirty="0">
                <a:effectLst/>
                <a:latin typeface="Calibri" panose="020F0502020204030204" pitchFamily="34" charset="0"/>
                <a:ea typeface="Calibri" panose="020F0502020204030204" pitchFamily="34" charset="0"/>
                <a:cs typeface="Mangal" panose="02040503050203030202" pitchFamily="18" charset="0"/>
              </a:rPr>
              <a:t>In UiPath Studio, </a:t>
            </a:r>
            <a:r>
              <a:rPr lang="en-IN" sz="1800" b="1" kern="100" dirty="0">
                <a:effectLst/>
                <a:latin typeface="Calibri" panose="020F0502020204030204" pitchFamily="34" charset="0"/>
                <a:ea typeface="Calibri" panose="020F0502020204030204" pitchFamily="34" charset="0"/>
                <a:cs typeface="Mangal" panose="02040503050203030202" pitchFamily="18" charset="0"/>
              </a:rPr>
              <a:t>input</a:t>
            </a:r>
            <a:r>
              <a:rPr lang="en-IN" sz="1800" kern="100" dirty="0">
                <a:effectLst/>
                <a:latin typeface="Calibri" panose="020F0502020204030204" pitchFamily="34" charset="0"/>
                <a:ea typeface="Calibri" panose="020F0502020204030204" pitchFamily="34" charset="0"/>
                <a:cs typeface="Mangal" panose="02040503050203030202" pitchFamily="18" charset="0"/>
              </a:rPr>
              <a:t> and </a:t>
            </a:r>
            <a:r>
              <a:rPr lang="en-IN" sz="1800" b="1" kern="100" dirty="0">
                <a:effectLst/>
                <a:latin typeface="Calibri" panose="020F0502020204030204" pitchFamily="34" charset="0"/>
                <a:ea typeface="Calibri" panose="020F0502020204030204" pitchFamily="34" charset="0"/>
                <a:cs typeface="Mangal" panose="02040503050203030202" pitchFamily="18" charset="0"/>
              </a:rPr>
              <a:t>output</a:t>
            </a:r>
            <a:r>
              <a:rPr lang="en-IN" sz="1800" kern="100" dirty="0">
                <a:effectLst/>
                <a:latin typeface="Calibri" panose="020F0502020204030204" pitchFamily="34" charset="0"/>
                <a:ea typeface="Calibri" panose="020F0502020204030204" pitchFamily="34" charset="0"/>
                <a:cs typeface="Mangal" panose="02040503050203030202" pitchFamily="18" charset="0"/>
              </a:rPr>
              <a:t> methods refer to how data is received and delivered during the automation process. These methods are essential for interacting with users, files, applications, and other systems. Here’s a detailed breakdown:</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1800" kern="100" dirty="0">
                <a:latin typeface="Calibri" panose="020F0502020204030204" pitchFamily="34" charset="0"/>
                <a:ea typeface="Calibri" panose="020F0502020204030204" pitchFamily="34" charset="0"/>
                <a:cs typeface="Mangal" panose="02040503050203030202" pitchFamily="18" charset="0"/>
              </a:rPr>
              <a:t>User Input (Dialog Boxes):</a:t>
            </a:r>
            <a:endParaRPr lang="en-US" sz="1800" kern="100" dirty="0">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1800" kern="100" dirty="0">
                <a:latin typeface="Calibri" panose="020F0502020204030204" pitchFamily="34" charset="0"/>
                <a:ea typeface="Calibri" panose="020F0502020204030204" pitchFamily="34" charset="0"/>
                <a:cs typeface="Mangal" panose="02040503050203030202" pitchFamily="18" charset="0"/>
              </a:rPr>
              <a:t>Input Dialog: A prompt that allows users to enter values manually. You can ask for user input through a pop-up window with a text box.</a:t>
            </a:r>
            <a:endParaRPr lang="en-US" sz="1800" kern="100" dirty="0">
              <a:latin typeface="Calibri" panose="020F0502020204030204" pitchFamily="34" charset="0"/>
              <a:ea typeface="Calibri" panose="020F0502020204030204" pitchFamily="34" charset="0"/>
              <a:cs typeface="Mangal" panose="02040503050203030202"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sz="1800" kern="100" dirty="0">
                <a:latin typeface="Calibri" panose="020F0502020204030204" pitchFamily="34" charset="0"/>
                <a:ea typeface="Calibri" panose="020F0502020204030204" pitchFamily="34" charset="0"/>
                <a:cs typeface="Mangal" panose="02040503050203030202" pitchFamily="18" charset="0"/>
              </a:rPr>
              <a:t>Example: Prompting a user to enter a file path or their name.</a:t>
            </a:r>
            <a:endParaRPr lang="en-US" sz="1800" kern="100" dirty="0">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1800" kern="100" dirty="0">
                <a:latin typeface="Calibri" panose="020F0502020204030204" pitchFamily="34" charset="0"/>
                <a:ea typeface="Calibri" panose="020F0502020204030204" pitchFamily="34" charset="0"/>
                <a:cs typeface="Mangal" panose="02040503050203030202" pitchFamily="18" charset="0"/>
              </a:rPr>
              <a:t>Message Box (as Input): Though primarily used for displaying information, a Message Box can also be used to prompt users for decisions (Yes/No).</a:t>
            </a:r>
            <a:endParaRPr lang="en-US" sz="1800" kern="100" dirty="0">
              <a:latin typeface="Calibri" panose="020F0502020204030204" pitchFamily="34" charset="0"/>
              <a:ea typeface="Calibri" panose="020F0502020204030204" pitchFamily="34" charset="0"/>
              <a:cs typeface="Mangal" panose="02040503050203030202"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sz="1800" kern="100" dirty="0">
                <a:latin typeface="Calibri" panose="020F0502020204030204" pitchFamily="34" charset="0"/>
                <a:ea typeface="Calibri" panose="020F0502020204030204" pitchFamily="34" charset="0"/>
                <a:cs typeface="Mangal" panose="02040503050203030202" pitchFamily="18" charset="0"/>
              </a:rPr>
              <a:t>Example: Asking a user whether they want to proceed with a certain task.</a:t>
            </a:r>
            <a:endParaRPr lang="en-US" sz="1800" kern="100" dirty="0">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2479257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BAD1C43-5833-6491-BEED-F1D01F576407}"/>
              </a:ext>
            </a:extLst>
          </p:cNvPr>
          <p:cNvSpPr>
            <a:spLocks noGrp="1"/>
          </p:cNvSpPr>
          <p:nvPr>
            <p:ph idx="1"/>
          </p:nvPr>
        </p:nvSpPr>
        <p:spPr>
          <a:xfrm>
            <a:off x="838200" y="690880"/>
            <a:ext cx="10515600" cy="5486083"/>
          </a:xfrm>
        </p:spPr>
        <p:txBody>
          <a:bodyPr/>
          <a:lstStyle/>
          <a:p>
            <a:pPr marL="342900" marR="0" lvl="0" indent="-342900" algn="just">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Mangal" panose="02040503050203030202" pitchFamily="18" charset="0"/>
              </a:rPr>
              <a:t>Read Input from Files</a:t>
            </a:r>
            <a:r>
              <a:rPr lang="en-IN" sz="1800" kern="100" dirty="0">
                <a:effectLst/>
                <a:latin typeface="Calibri" panose="020F0502020204030204" pitchFamily="34" charset="0"/>
                <a:ea typeface="Calibri" panose="020F0502020204030204" pitchFamily="34" charset="0"/>
                <a:cs typeface="Mangal" panose="02040503050203030202" pitchFamily="18" charset="0"/>
              </a:rPr>
              <a: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gn="just">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Read Range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Extracts data from Excel files into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DataTables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which can then be used in the automation.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07000"/>
              </a:lnSpc>
              <a:spcAft>
                <a:spcPts val="800"/>
              </a:spcAft>
              <a:buSzPts val="1000"/>
              <a:buFont typeface="Wingdings" panose="05000000000000000000" pitchFamily="2" charset="2"/>
              <a:buChar char=""/>
              <a:tabLst>
                <a:tab pos="13716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Example: Reading customer data from an Excel sheet.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gn="just">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Read Text File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Reads the content of a text file as input for your process.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07000"/>
              </a:lnSpc>
              <a:spcAft>
                <a:spcPts val="800"/>
              </a:spcAft>
              <a:buSzPts val="1000"/>
              <a:buFont typeface="Wingdings" panose="05000000000000000000" pitchFamily="2" charset="2"/>
              <a:buChar char=""/>
              <a:tabLst>
                <a:tab pos="13716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Example: Reading a list of tasks from a text file.</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Mangal" panose="02040503050203030202" pitchFamily="18" charset="0"/>
              </a:rPr>
              <a:t>Get Values from Applications</a:t>
            </a:r>
            <a:r>
              <a:rPr lang="en-IN" sz="1800" kern="100" dirty="0">
                <a:effectLst/>
                <a:latin typeface="Calibri" panose="020F0502020204030204" pitchFamily="34" charset="0"/>
                <a:ea typeface="Calibri" panose="020F0502020204030204" pitchFamily="34" charset="0"/>
                <a:cs typeface="Mangal" panose="02040503050203030202" pitchFamily="18" charset="0"/>
              </a:rPr>
              <a:t>:</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gn="just">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Get Text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Captures text from elements in an application (web, desktop, etc.) and uses it for automation.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07000"/>
              </a:lnSpc>
              <a:spcAft>
                <a:spcPts val="800"/>
              </a:spcAft>
              <a:buSzPts val="1000"/>
              <a:buFont typeface="Wingdings" panose="05000000000000000000" pitchFamily="2" charset="2"/>
              <a:buChar char=""/>
              <a:tabLst>
                <a:tab pos="13716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Example: Extracting the current balance from a bank application.</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gn="just">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Type Into</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Used to send input or data to specific fields or controls in applications.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a:lnSpc>
                <a:spcPct val="107000"/>
              </a:lnSpc>
              <a:spcAft>
                <a:spcPts val="800"/>
              </a:spcAft>
              <a:buSzPts val="1000"/>
              <a:buFont typeface="Wingdings" panose="05000000000000000000" pitchFamily="2" charset="2"/>
              <a:buChar char=""/>
              <a:tabLst>
                <a:tab pos="13716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Example: Entering a search term in a web page search bar.</a:t>
            </a:r>
            <a:endParaRPr lang="en-US"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3134546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F92BCD2-4FB3-63EE-5549-DCEAF3801E4F}"/>
              </a:ext>
            </a:extLst>
          </p:cNvPr>
          <p:cNvSpPr>
            <a:spLocks noGrp="1"/>
          </p:cNvSpPr>
          <p:nvPr>
            <p:ph idx="1"/>
          </p:nvPr>
        </p:nvSpPr>
        <p:spPr>
          <a:xfrm>
            <a:off x="838200" y="619760"/>
            <a:ext cx="10515600" cy="5557203"/>
          </a:xfrm>
        </p:spPr>
        <p:txBody>
          <a:bodyPr/>
          <a:lstStyle/>
          <a:p>
            <a:pPr marL="0" marR="0">
              <a:lnSpc>
                <a:spcPct val="107000"/>
              </a:lnSpc>
              <a:spcAft>
                <a:spcPts val="800"/>
              </a:spcAft>
            </a:pPr>
            <a:r>
              <a:rPr lang="en-IN" sz="2000" b="1" kern="100" dirty="0">
                <a:effectLst/>
                <a:latin typeface="Calibri" panose="020F0502020204030204" pitchFamily="34" charset="0"/>
                <a:ea typeface="Calibri" panose="020F0502020204030204" pitchFamily="34" charset="0"/>
                <a:cs typeface="Mangal" panose="02040503050203030202" pitchFamily="18" charset="0"/>
              </a:rPr>
              <a:t>Output Method</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The output method is used to return or display the results of the automation process. Some common output methods in UiPath include:</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Display Output to Users</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Message Box</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A simple pop-up window that displays information or results to users.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Showing a message indicating the status of a task (e.g., "Process Complete").</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Write Data to Files</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Write Range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Writes data (usually from a </a:t>
            </a:r>
            <a:r>
              <a:rPr lang="en-IN" sz="2000" kern="100" dirty="0" err="1">
                <a:effectLst/>
                <a:latin typeface="Calibri" panose="020F0502020204030204" pitchFamily="34" charset="0"/>
                <a:ea typeface="Calibri" panose="020F0502020204030204" pitchFamily="34" charset="0"/>
                <a:cs typeface="Times New Roman" panose="02020603050405020304" pitchFamily="18" charset="0"/>
              </a:rPr>
              <a:t>DataTable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into an Excel sheet.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Saving the results of a calculation into an Excel file.</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Write Text File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Saves text output into a text file.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Writing the results of a report to a text file.</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3118492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C7BBA92-09AF-9FAE-F098-40A20DAB6AAE}"/>
              </a:ext>
            </a:extLst>
          </p:cNvPr>
          <p:cNvSpPr>
            <a:spLocks noGrp="1"/>
          </p:cNvSpPr>
          <p:nvPr>
            <p:ph idx="1"/>
          </p:nvPr>
        </p:nvSpPr>
        <p:spPr>
          <a:xfrm>
            <a:off x="838200" y="538480"/>
            <a:ext cx="10515600" cy="5638483"/>
          </a:xfrm>
        </p:spPr>
        <p:txBody>
          <a:bodyPr/>
          <a:lstStyle/>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Interact with Applications</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Set Text</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Used to fill text into fields in an application, sending the result of the process back to a system.</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Writing the status of an order in an input field of a web app.</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Aft>
                <a:spcPts val="800"/>
              </a:spcAft>
              <a:buFont typeface="+mj-lt"/>
              <a:buAutoNum type="arabicPeriod"/>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Log Output</a:t>
            </a:r>
            <a:r>
              <a:rPr lang="en-IN" sz="2000" kern="100" dirty="0">
                <a:effectLst/>
                <a:latin typeface="Calibri" panose="020F0502020204030204" pitchFamily="34" charset="0"/>
                <a:ea typeface="Calibri" panose="020F0502020204030204" pitchFamily="34" charset="0"/>
                <a:cs typeface="Mangal" panose="02040503050203030202" pitchFamily="18" charset="0"/>
              </a:rPr>
              <a:t>:</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Write Line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Writes information to the Output pane in UiPath Studio, mainly for debugging or logging purposes.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Writing variable values for troubleshooting.</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Log Message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Logs messages of different levels (Info, Error, Warning, etc.) in the logs for later review.</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Aft>
                <a:spcPts val="800"/>
              </a:spcAft>
              <a:buSzPts val="1000"/>
              <a:buFont typeface="Wingdings" panose="05000000000000000000" pitchFamily="2" charset="2"/>
              <a:buChar char=""/>
              <a:tabLst>
                <a:tab pos="1371600" algn="l"/>
              </a:tabLst>
            </a:pPr>
            <a:r>
              <a:rPr lang="en-IN" kern="100" dirty="0">
                <a:effectLst/>
                <a:latin typeface="Calibri" panose="020F0502020204030204" pitchFamily="34" charset="0"/>
                <a:ea typeface="Calibri" panose="020F0502020204030204" pitchFamily="34" charset="0"/>
                <a:cs typeface="Mangal" panose="02040503050203030202" pitchFamily="18" charset="0"/>
              </a:rPr>
              <a:t>Example: Logging an error message if a process fails.</a:t>
            </a:r>
            <a:endParaRPr lang="en-US"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1179727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0CADB1-5FEE-4EEF-922A-6F3C1D1B0762}"/>
              </a:ext>
            </a:extLst>
          </p:cNvPr>
          <p:cNvSpPr>
            <a:spLocks noGrp="1"/>
          </p:cNvSpPr>
          <p:nvPr>
            <p:ph idx="1"/>
          </p:nvPr>
        </p:nvSpPr>
        <p:spPr/>
        <p:txBody>
          <a:bodyPr/>
          <a:lstStyle/>
          <a:p>
            <a:pPr marL="0" marR="0" algn="just">
              <a:lnSpc>
                <a:spcPct val="107000"/>
              </a:lnSpc>
              <a:spcAft>
                <a:spcPts val="800"/>
              </a:spcAft>
            </a:pPr>
            <a:r>
              <a:rPr lang="en-IN" sz="2000" b="1" kern="100" dirty="0">
                <a:effectLst/>
                <a:latin typeface="Calibri" panose="020F0502020204030204" pitchFamily="34" charset="0"/>
                <a:ea typeface="Calibri" panose="020F0502020204030204" pitchFamily="34" charset="0"/>
                <a:cs typeface="Mangal" panose="02040503050203030202" pitchFamily="18" charset="0"/>
              </a:rPr>
              <a:t>Key Differences:</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Input Methods</a:t>
            </a:r>
            <a:r>
              <a:rPr lang="en-IN" sz="2000" kern="100" dirty="0">
                <a:effectLst/>
                <a:latin typeface="Calibri" panose="020F0502020204030204" pitchFamily="34" charset="0"/>
                <a:ea typeface="Calibri" panose="020F0502020204030204" pitchFamily="34" charset="0"/>
                <a:cs typeface="Mangal" panose="02040503050203030202" pitchFamily="18" charset="0"/>
              </a:rPr>
              <a:t>: Capture or request data (e.g., user input, file input, application data).</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Mangal" panose="02040503050203030202" pitchFamily="18" charset="0"/>
              </a:rPr>
              <a:t>Output Methods</a:t>
            </a:r>
            <a:r>
              <a:rPr lang="en-IN" sz="2000" kern="100" dirty="0">
                <a:effectLst/>
                <a:latin typeface="Calibri" panose="020F0502020204030204" pitchFamily="34" charset="0"/>
                <a:ea typeface="Calibri" panose="020F0502020204030204" pitchFamily="34" charset="0"/>
                <a:cs typeface="Mangal" panose="02040503050203030202" pitchFamily="18" charset="0"/>
              </a:rPr>
              <a:t>: Deliver or display data (e.g., show messages, write to files, or update applications).</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07000"/>
              </a:lnSpc>
              <a:spcAft>
                <a:spcPts val="800"/>
              </a:spcAft>
            </a:pPr>
            <a:r>
              <a:rPr lang="en-IN" sz="2000" kern="100" dirty="0">
                <a:effectLst/>
                <a:latin typeface="Calibri" panose="020F0502020204030204" pitchFamily="34" charset="0"/>
                <a:ea typeface="Calibri" panose="020F0502020204030204" pitchFamily="34" charset="0"/>
                <a:cs typeface="Mangal" panose="02040503050203030202" pitchFamily="18" charset="0"/>
              </a:rPr>
              <a:t>In UiPath Studio, you can combine various input and output activities to create dynamic and interactive workflows that engage with users, retrieve data, and share results with external systems.</a:t>
            </a:r>
            <a:endParaRPr lang="en-US" sz="20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 xmlns:p14="http://schemas.microsoft.com/office/powerpoint/2010/main" val="1527024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Debugging</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smtClean="0"/>
              <a:t>Common Causes of I/O Errors .</a:t>
            </a:r>
          </a:p>
          <a:p>
            <a:pPr algn="just"/>
            <a:r>
              <a:rPr lang="en-US" dirty="0" smtClean="0"/>
              <a:t>Here are some common causes of I/O-related errors: </a:t>
            </a:r>
          </a:p>
          <a:p>
            <a:pPr algn="just"/>
            <a:r>
              <a:rPr lang="en-US" dirty="0" smtClean="0"/>
              <a:t> </a:t>
            </a:r>
            <a:r>
              <a:rPr lang="en-US" b="1" dirty="0" smtClean="0"/>
              <a:t>Incorrect Data Types: </a:t>
            </a:r>
            <a:r>
              <a:rPr lang="en-US" dirty="0" smtClean="0"/>
              <a:t>The data type expected by an activity does not match the input/output. </a:t>
            </a:r>
          </a:p>
          <a:p>
            <a:pPr algn="just"/>
            <a:r>
              <a:rPr lang="en-US" dirty="0" smtClean="0"/>
              <a:t> </a:t>
            </a:r>
            <a:r>
              <a:rPr lang="en-US" b="1" dirty="0" smtClean="0"/>
              <a:t>Missing or Empty Input: </a:t>
            </a:r>
            <a:r>
              <a:rPr lang="en-US" dirty="0" smtClean="0"/>
              <a:t>The input file or data might be missing or empty, leading to an error in processing. </a:t>
            </a:r>
          </a:p>
          <a:p>
            <a:pPr algn="just"/>
            <a:r>
              <a:rPr lang="en-US" dirty="0" smtClean="0"/>
              <a:t> </a:t>
            </a:r>
            <a:r>
              <a:rPr lang="en-US" b="1" dirty="0" smtClean="0"/>
              <a:t>Incorrect File Paths: </a:t>
            </a:r>
            <a:r>
              <a:rPr lang="en-US" dirty="0" smtClean="0"/>
              <a:t>File paths may be incorrect or inaccessible. </a:t>
            </a:r>
          </a:p>
          <a:p>
            <a:pPr algn="just"/>
            <a:r>
              <a:rPr lang="en-US" dirty="0" smtClean="0"/>
              <a:t> </a:t>
            </a:r>
            <a:r>
              <a:rPr lang="en-US" b="1" dirty="0" smtClean="0"/>
              <a:t>Incorrect Read/Write Range: </a:t>
            </a:r>
            <a:r>
              <a:rPr lang="en-US" dirty="0" smtClean="0"/>
              <a:t>For data manipulation (e.g., in Excel), specifying an incorrect range or empty data set can cause issues. </a:t>
            </a:r>
          </a:p>
          <a:p>
            <a:pPr algn="just"/>
            <a:r>
              <a:rPr lang="en-US" dirty="0" smtClean="0"/>
              <a:t> </a:t>
            </a:r>
            <a:r>
              <a:rPr lang="en-US" b="1" dirty="0" smtClean="0"/>
              <a:t>Null Values: </a:t>
            </a:r>
            <a:r>
              <a:rPr lang="en-US" dirty="0" smtClean="0"/>
              <a:t>Null data is often encountered when working with databases, API responses, or files and needs to be checked before proceeding</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Debugging  I/O  Errors in </a:t>
            </a:r>
            <a:r>
              <a:rPr lang="en-US" b="1" dirty="0" err="1" smtClean="0"/>
              <a:t>UiPath</a:t>
            </a:r>
            <a:r>
              <a:rPr lang="en-US" dirty="0" smtClean="0"/>
              <a:t/>
            </a:r>
            <a:br>
              <a:rPr lang="en-US" dirty="0" smtClean="0"/>
            </a:br>
            <a:r>
              <a:rPr lang="en-US" dirty="0" smtClean="0"/>
              <a:t>A. Using Debugging Tools </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UiPath</a:t>
            </a:r>
            <a:r>
              <a:rPr lang="en-US" dirty="0" smtClean="0"/>
              <a:t> Studio provides several debugging tools to assist in identifying and resolving I/O-related issues. </a:t>
            </a:r>
          </a:p>
          <a:p>
            <a:r>
              <a:rPr lang="en-US" b="1" dirty="0" smtClean="0"/>
              <a:t>Breakpoints: </a:t>
            </a:r>
          </a:p>
          <a:p>
            <a:r>
              <a:rPr lang="en-US" dirty="0" smtClean="0"/>
              <a:t>o Set breakpoints in your workflow to pause execution at specific points. This helps inspect the input/output data being processed at each stage. </a:t>
            </a:r>
          </a:p>
          <a:p>
            <a:r>
              <a:rPr lang="en-US" dirty="0" smtClean="0"/>
              <a:t>o To set a breakpoint, click on the activity where you want the execution to pause and press F9.</a:t>
            </a:r>
          </a:p>
          <a:p>
            <a:r>
              <a:rPr lang="en-US" dirty="0" smtClean="0"/>
              <a:t> </a:t>
            </a:r>
            <a:r>
              <a:rPr lang="en-US" b="1" dirty="0" smtClean="0"/>
              <a:t>Step Into / Step Over: </a:t>
            </a:r>
          </a:p>
          <a:p>
            <a:r>
              <a:rPr lang="en-US" dirty="0" smtClean="0"/>
              <a:t>o Use Step Into (F11) to execute an activity and move through each line of code or activity in the workflow. </a:t>
            </a:r>
          </a:p>
          <a:p>
            <a:r>
              <a:rPr lang="en-US" dirty="0" smtClean="0"/>
              <a:t>o Use Step Over (F10) to skip over activities (useful if you don’t want to debug every single step</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6480"/>
            <a:ext cx="10515600" cy="5130483"/>
          </a:xfrm>
        </p:spPr>
        <p:txBody>
          <a:bodyPr>
            <a:normAutofit lnSpcReduction="10000"/>
          </a:bodyPr>
          <a:lstStyle/>
          <a:p>
            <a:pPr algn="just"/>
            <a:r>
              <a:rPr lang="en-US" b="1" dirty="0" smtClean="0"/>
              <a:t>Watch Panel: </a:t>
            </a:r>
          </a:p>
          <a:p>
            <a:pPr algn="just"/>
            <a:r>
              <a:rPr lang="en-US" dirty="0" smtClean="0"/>
              <a:t>o The Watch Panel is useful for inspecting variables and arguments during debugging. You can add any variable or argument to the Watch panel to monitor its value and track any changes in real time. </a:t>
            </a:r>
          </a:p>
          <a:p>
            <a:pPr algn="just"/>
            <a:r>
              <a:rPr lang="en-US" dirty="0" smtClean="0"/>
              <a:t> </a:t>
            </a:r>
            <a:r>
              <a:rPr lang="en-US" b="1" dirty="0" smtClean="0"/>
              <a:t>Locals Panel: </a:t>
            </a:r>
          </a:p>
          <a:p>
            <a:pPr algn="just"/>
            <a:r>
              <a:rPr lang="en-US" dirty="0" smtClean="0"/>
              <a:t> The Locals Panel shows the values of all local variables, which is useful when trying to debug variable assignments or outputs. </a:t>
            </a:r>
          </a:p>
          <a:p>
            <a:pPr algn="just"/>
            <a:r>
              <a:rPr lang="en-US" dirty="0" smtClean="0"/>
              <a:t> </a:t>
            </a:r>
            <a:r>
              <a:rPr lang="en-US" b="1" dirty="0" smtClean="0"/>
              <a:t>Immediate Panel: </a:t>
            </a:r>
          </a:p>
          <a:p>
            <a:pPr algn="just"/>
            <a:r>
              <a:rPr lang="en-US" dirty="0" smtClean="0"/>
              <a:t> The Immediate Panel allows you to evaluate and run expressions during debugging. You can manually check values or execute code (such as checking data types, or evaluating whether data exists) at runtime.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354965"/>
            <a:ext cx="10515600" cy="1325563"/>
          </a:xfrm>
        </p:spPr>
        <p:txBody>
          <a:bodyPr/>
          <a:lstStyle/>
          <a:p>
            <a:r>
              <a:rPr lang="en-US" dirty="0" smtClean="0"/>
              <a:t>B</a:t>
            </a:r>
            <a:r>
              <a:rPr lang="en-US" b="1" dirty="0" smtClean="0"/>
              <a:t>. Check Input and Output Data Types</a:t>
            </a:r>
            <a:endParaRPr lang="en-US" b="1" dirty="0"/>
          </a:p>
        </p:txBody>
      </p:sp>
      <p:sp>
        <p:nvSpPr>
          <p:cNvPr id="3" name="Content Placeholder 2"/>
          <p:cNvSpPr>
            <a:spLocks noGrp="1"/>
          </p:cNvSpPr>
          <p:nvPr>
            <p:ph idx="1"/>
          </p:nvPr>
        </p:nvSpPr>
        <p:spPr/>
        <p:txBody>
          <a:bodyPr/>
          <a:lstStyle/>
          <a:p>
            <a:r>
              <a:rPr lang="en-US" dirty="0" smtClean="0"/>
              <a:t>Ensure the data types of variables and arguments match what is expected by the activities. </a:t>
            </a:r>
          </a:p>
          <a:p>
            <a:r>
              <a:rPr lang="en-US" dirty="0" smtClean="0"/>
              <a:t>Mismatches are a common source of errors. </a:t>
            </a:r>
          </a:p>
          <a:p>
            <a:r>
              <a:rPr lang="en-US" dirty="0" smtClean="0"/>
              <a:t> </a:t>
            </a:r>
            <a:r>
              <a:rPr lang="en-US" b="1" dirty="0" smtClean="0"/>
              <a:t>Inspect Variables: </a:t>
            </a:r>
            <a:r>
              <a:rPr lang="en-US" dirty="0" smtClean="0"/>
              <a:t>Check if the input data type matches the expected input type (e.g., string, integer, </a:t>
            </a:r>
            <a:r>
              <a:rPr lang="en-US" dirty="0" err="1" smtClean="0"/>
              <a:t>DataTable</a:t>
            </a:r>
            <a:r>
              <a:rPr lang="en-US" dirty="0" smtClean="0"/>
              <a:t>, etc.). </a:t>
            </a:r>
          </a:p>
          <a:p>
            <a:r>
              <a:rPr lang="en-US" dirty="0" smtClean="0"/>
              <a:t> </a:t>
            </a:r>
            <a:r>
              <a:rPr lang="en-US" b="1" dirty="0" smtClean="0"/>
              <a:t>Variable Type Conversion: </a:t>
            </a:r>
            <a:r>
              <a:rPr lang="en-US" dirty="0" smtClean="0"/>
              <a:t>If necessary, use Assign activities to convert data types before passing them to activities. </a:t>
            </a:r>
          </a:p>
          <a:p>
            <a:r>
              <a:rPr lang="en-US" dirty="0" smtClean="0"/>
              <a:t>o Example: Converting a string to a number: </a:t>
            </a:r>
          </a:p>
          <a:p>
            <a:r>
              <a:rPr lang="en-US" dirty="0" smtClean="0"/>
              <a:t>o </a:t>
            </a:r>
            <a:r>
              <a:rPr lang="en-US" dirty="0" err="1" smtClean="0"/>
              <a:t>intVariable</a:t>
            </a:r>
            <a:r>
              <a:rPr lang="en-US" dirty="0" smtClean="0"/>
              <a:t> = Convert.ToInt32(</a:t>
            </a:r>
            <a:r>
              <a:rPr lang="en-US" dirty="0" err="1" smtClean="0"/>
              <a:t>stringVariable</a:t>
            </a:r>
            <a:r>
              <a:rPr lang="en-US" dirty="0" smtClean="0"/>
              <a:t>)</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a:t>
            </a:r>
            <a:r>
              <a:rPr lang="en-US" b="1" dirty="0" smtClean="0"/>
              <a:t>Check for Null or Empty Values</a:t>
            </a:r>
            <a:endParaRPr lang="en-US" b="1" dirty="0"/>
          </a:p>
        </p:txBody>
      </p:sp>
      <p:sp>
        <p:nvSpPr>
          <p:cNvPr id="3" name="Content Placeholder 2"/>
          <p:cNvSpPr>
            <a:spLocks noGrp="1"/>
          </p:cNvSpPr>
          <p:nvPr>
            <p:ph idx="1"/>
          </p:nvPr>
        </p:nvSpPr>
        <p:spPr/>
        <p:txBody>
          <a:bodyPr/>
          <a:lstStyle/>
          <a:p>
            <a:r>
              <a:rPr lang="en-US" dirty="0" smtClean="0"/>
              <a:t>Many activities fail when the expected data is missing. </a:t>
            </a:r>
          </a:p>
          <a:p>
            <a:r>
              <a:rPr lang="en-US" dirty="0" smtClean="0"/>
              <a:t>For example, Read Range in Excel might not find data if the specified range is empty, or a String might be passed as null when a valid string is expected. </a:t>
            </a:r>
          </a:p>
          <a:p>
            <a:r>
              <a:rPr lang="en-US" dirty="0" smtClean="0"/>
              <a:t> </a:t>
            </a:r>
            <a:r>
              <a:rPr lang="en-US" b="1" dirty="0" smtClean="0"/>
              <a:t>Use If Statements: </a:t>
            </a:r>
            <a:r>
              <a:rPr lang="en-US" dirty="0" smtClean="0"/>
              <a:t>Use an If activity to check if the input/output is null or empty before processing.</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Example: </a:t>
            </a:r>
          </a:p>
          <a:p>
            <a:r>
              <a:rPr lang="en-US" dirty="0" smtClean="0"/>
              <a:t>o If </a:t>
            </a:r>
            <a:r>
              <a:rPr lang="en-US" dirty="0" err="1" smtClean="0"/>
              <a:t>String.IsNullOrEmpty</a:t>
            </a:r>
            <a:r>
              <a:rPr lang="en-US" dirty="0" smtClean="0"/>
              <a:t>(</a:t>
            </a:r>
            <a:r>
              <a:rPr lang="en-US" dirty="0" err="1" smtClean="0"/>
              <a:t>myString</a:t>
            </a:r>
            <a:r>
              <a:rPr lang="en-US" dirty="0" smtClean="0"/>
              <a:t>) </a:t>
            </a:r>
          </a:p>
          <a:p>
            <a:r>
              <a:rPr lang="en-US" dirty="0" smtClean="0"/>
              <a:t>Then</a:t>
            </a:r>
          </a:p>
          <a:p>
            <a:r>
              <a:rPr lang="en-US" dirty="0" smtClean="0"/>
              <a:t> o Log Message: "Input string is empty" </a:t>
            </a:r>
          </a:p>
          <a:p>
            <a:r>
              <a:rPr lang="en-US" dirty="0" smtClean="0"/>
              <a:t>o Else </a:t>
            </a:r>
          </a:p>
          <a:p>
            <a:r>
              <a:rPr lang="en-US" dirty="0" smtClean="0"/>
              <a:t>o Proceed with automation </a:t>
            </a:r>
          </a:p>
          <a:p>
            <a:r>
              <a:rPr lang="en-US" dirty="0" smtClean="0"/>
              <a:t>o End If</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 </a:t>
            </a:r>
            <a:r>
              <a:rPr lang="en-US" b="1" dirty="0" smtClean="0"/>
              <a:t>Verify File Paths and File Availability</a:t>
            </a:r>
            <a:endParaRPr lang="en-US" b="1" dirty="0"/>
          </a:p>
        </p:txBody>
      </p:sp>
      <p:sp>
        <p:nvSpPr>
          <p:cNvPr id="3" name="Content Placeholder 2"/>
          <p:cNvSpPr>
            <a:spLocks noGrp="1"/>
          </p:cNvSpPr>
          <p:nvPr>
            <p:ph idx="1"/>
          </p:nvPr>
        </p:nvSpPr>
        <p:spPr/>
        <p:txBody>
          <a:bodyPr/>
          <a:lstStyle/>
          <a:p>
            <a:r>
              <a:rPr lang="en-US" dirty="0" smtClean="0"/>
              <a:t>Ensure the paths to input and output files are correct and accessible. Common issues include: </a:t>
            </a:r>
          </a:p>
          <a:p>
            <a:r>
              <a:rPr lang="en-US" dirty="0" smtClean="0"/>
              <a:t>Incorrect file paths. </a:t>
            </a:r>
          </a:p>
          <a:p>
            <a:r>
              <a:rPr lang="en-US" dirty="0" smtClean="0"/>
              <a:t> Files not found in the specified directory.</a:t>
            </a:r>
          </a:p>
          <a:p>
            <a:r>
              <a:rPr lang="en-US" dirty="0" smtClean="0"/>
              <a:t> Insufficient permissions to read or write files. </a:t>
            </a:r>
          </a:p>
          <a:p>
            <a:r>
              <a:rPr lang="en-US" dirty="0" smtClean="0"/>
              <a:t>Debug Tip: Use Path Exists activity to check if a file or folder exists before processing it</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t>
            </a:r>
            <a:r>
              <a:rPr lang="en-US" b="1" dirty="0" smtClean="0"/>
              <a:t>. Logging and Tracing</a:t>
            </a:r>
            <a:endParaRPr lang="en-US" b="1" dirty="0"/>
          </a:p>
        </p:txBody>
      </p:sp>
      <p:sp>
        <p:nvSpPr>
          <p:cNvPr id="3" name="Content Placeholder 2"/>
          <p:cNvSpPr>
            <a:spLocks noGrp="1"/>
          </p:cNvSpPr>
          <p:nvPr>
            <p:ph idx="1"/>
          </p:nvPr>
        </p:nvSpPr>
        <p:spPr/>
        <p:txBody>
          <a:bodyPr/>
          <a:lstStyle/>
          <a:p>
            <a:r>
              <a:rPr lang="en-US" dirty="0" smtClean="0"/>
              <a:t>Logging is an essential part of debugging I/O issues. </a:t>
            </a:r>
          </a:p>
          <a:p>
            <a:r>
              <a:rPr lang="en-US" dirty="0" smtClean="0"/>
              <a:t>It helps you track the flow of data and identify where things go wrong. </a:t>
            </a:r>
          </a:p>
          <a:p>
            <a:r>
              <a:rPr lang="en-US" dirty="0" smtClean="0"/>
              <a:t> Use Log Message to log variable values or messages to understand what’s happening during the automation.</a:t>
            </a:r>
          </a:p>
          <a:p>
            <a:r>
              <a:rPr lang="en-US" dirty="0" smtClean="0"/>
              <a:t> Log key data, such as input variables, output data, file paths, or success/failure messages after I/O operations. </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 </a:t>
            </a:r>
            <a:r>
              <a:rPr lang="en-US" b="1" dirty="0" smtClean="0"/>
              <a:t>Test Data Flow (</a:t>
            </a:r>
            <a:r>
              <a:rPr lang="en-US" b="1" dirty="0" err="1" smtClean="0"/>
              <a:t>Input/Output</a:t>
            </a:r>
            <a:r>
              <a:rPr lang="en-US" b="1" dirty="0" smtClean="0"/>
              <a:t>)</a:t>
            </a:r>
            <a:endParaRPr lang="en-US" b="1" dirty="0"/>
          </a:p>
        </p:txBody>
      </p:sp>
      <p:sp>
        <p:nvSpPr>
          <p:cNvPr id="3" name="Content Placeholder 2"/>
          <p:cNvSpPr>
            <a:spLocks noGrp="1"/>
          </p:cNvSpPr>
          <p:nvPr>
            <p:ph idx="1"/>
          </p:nvPr>
        </p:nvSpPr>
        <p:spPr/>
        <p:txBody>
          <a:bodyPr/>
          <a:lstStyle/>
          <a:p>
            <a:r>
              <a:rPr lang="en-US" dirty="0" smtClean="0"/>
              <a:t>If you're interacting with external systems (e.g., APIs, databases, or cloud services), test the data flow to ensure correct interaction: </a:t>
            </a:r>
          </a:p>
          <a:p>
            <a:r>
              <a:rPr lang="en-US" dirty="0" smtClean="0"/>
              <a:t> API Calls: Verify API requests and responses using Output activity and check if the response data matches the expected format. </a:t>
            </a:r>
          </a:p>
          <a:p>
            <a:r>
              <a:rPr lang="en-US" dirty="0" smtClean="0"/>
              <a:t> Databases: Test database queries to ensure you're getting the correct output. </a:t>
            </a:r>
          </a:p>
          <a:p>
            <a:r>
              <a:rPr lang="en-US" dirty="0" smtClean="0"/>
              <a:t>Use Execute Query or Execute Non-Query activities and check for unexpected results or errors.</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Common Activities to Debug I/O</a:t>
            </a:r>
            <a:endParaRPr lang="en-US" b="1" dirty="0"/>
          </a:p>
        </p:txBody>
      </p:sp>
      <p:sp>
        <p:nvSpPr>
          <p:cNvPr id="3" name="Content Placeholder 2"/>
          <p:cNvSpPr>
            <a:spLocks noGrp="1"/>
          </p:cNvSpPr>
          <p:nvPr>
            <p:ph idx="1"/>
          </p:nvPr>
        </p:nvSpPr>
        <p:spPr/>
        <p:txBody>
          <a:bodyPr>
            <a:normAutofit lnSpcReduction="10000"/>
          </a:bodyPr>
          <a:lstStyle/>
          <a:p>
            <a:r>
              <a:rPr lang="en-US" dirty="0" smtClean="0"/>
              <a:t>Read Range (Excel): Verify that the range being read is valid and the Excel file is accessible. </a:t>
            </a:r>
          </a:p>
          <a:p>
            <a:r>
              <a:rPr lang="en-US" dirty="0" smtClean="0"/>
              <a:t> Write Range (Excel): Ensure that the range where you’re writing data exists and there’s no conflict in cell types. </a:t>
            </a:r>
          </a:p>
          <a:p>
            <a:r>
              <a:rPr lang="en-US" dirty="0" smtClean="0"/>
              <a:t> Read Text File: Ensure the file exists and has readable data before trying to read from it. </a:t>
            </a:r>
          </a:p>
          <a:p>
            <a:r>
              <a:rPr lang="en-US" dirty="0" smtClean="0"/>
              <a:t> Write Text File: Check if the target directory is writable. </a:t>
            </a:r>
          </a:p>
          <a:p>
            <a:r>
              <a:rPr lang="en-US" dirty="0" smtClean="0"/>
              <a:t> Get Row Item / Set Row Item (Excel): Ensure the </a:t>
            </a:r>
            <a:r>
              <a:rPr lang="en-US" dirty="0" err="1" smtClean="0"/>
              <a:t>DataTable</a:t>
            </a:r>
            <a:r>
              <a:rPr lang="en-US" dirty="0" smtClean="0"/>
              <a:t> has the correct structure and there’s no mismatch in column names or indices.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RPA Challenge</a:t>
            </a:r>
            <a:endParaRPr lang="en-US" dirty="0"/>
          </a:p>
        </p:txBody>
      </p:sp>
      <p:sp>
        <p:nvSpPr>
          <p:cNvPr id="3" name="Content Placeholder 2"/>
          <p:cNvSpPr>
            <a:spLocks noGrp="1"/>
          </p:cNvSpPr>
          <p:nvPr>
            <p:ph idx="1"/>
          </p:nvPr>
        </p:nvSpPr>
        <p:spPr/>
        <p:txBody>
          <a:bodyPr/>
          <a:lstStyle/>
          <a:p>
            <a:r>
              <a:rPr lang="en-US" dirty="0" smtClean="0"/>
              <a:t>The RPA Challenge typically refers to tasks or scenarios designed to help practitioners test and improve their Robotic Process Automation (RPA) skills, usually using tools like </a:t>
            </a:r>
            <a:r>
              <a:rPr lang="en-US" dirty="0" err="1" smtClean="0"/>
              <a:t>UiPath</a:t>
            </a:r>
            <a:r>
              <a:rPr lang="en-US" dirty="0" smtClean="0"/>
              <a:t>, Automation Anywhere, or Blue Prism. </a:t>
            </a:r>
          </a:p>
          <a:p>
            <a:r>
              <a:rPr lang="en-US" dirty="0" smtClean="0"/>
              <a:t>These challenges are often set in a competitive or educational context to allow automation developers to demonstrate their problem-solving and automation-building abilities.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Objectives of RPA Challenges</a:t>
            </a:r>
            <a:endParaRPr lang="en-US" b="1" dirty="0"/>
          </a:p>
        </p:txBody>
      </p:sp>
      <p:sp>
        <p:nvSpPr>
          <p:cNvPr id="3" name="Content Placeholder 2"/>
          <p:cNvSpPr>
            <a:spLocks noGrp="1"/>
          </p:cNvSpPr>
          <p:nvPr>
            <p:ph idx="1"/>
          </p:nvPr>
        </p:nvSpPr>
        <p:spPr/>
        <p:txBody>
          <a:bodyPr>
            <a:normAutofit fontScale="85000" lnSpcReduction="20000"/>
          </a:bodyPr>
          <a:lstStyle/>
          <a:p>
            <a:pPr algn="just"/>
            <a:r>
              <a:rPr lang="en-US" dirty="0" smtClean="0"/>
              <a:t>1. </a:t>
            </a:r>
            <a:r>
              <a:rPr lang="en-US" b="1" dirty="0" smtClean="0"/>
              <a:t>Skill Development: </a:t>
            </a:r>
            <a:r>
              <a:rPr lang="en-US" dirty="0" smtClean="0"/>
              <a:t>These challenges are meant to improve skills in various aspects of RPA, including:</a:t>
            </a:r>
          </a:p>
          <a:p>
            <a:pPr algn="just"/>
            <a:r>
              <a:rPr lang="en-US" dirty="0" smtClean="0"/>
              <a:t> o Automating repetitive tasks. </a:t>
            </a:r>
          </a:p>
          <a:p>
            <a:pPr algn="just"/>
            <a:r>
              <a:rPr lang="en-US" dirty="0" smtClean="0"/>
              <a:t>o Integrating multiple systems (e.g., web applications, databases, Excel). </a:t>
            </a:r>
          </a:p>
          <a:p>
            <a:pPr algn="just"/>
            <a:r>
              <a:rPr lang="en-US" dirty="0" smtClean="0"/>
              <a:t>o Using advanced features like image recognition, OCR (Optical Character Recognition), and screen scraping. </a:t>
            </a:r>
          </a:p>
          <a:p>
            <a:pPr algn="just"/>
            <a:endParaRPr lang="en-US" dirty="0" smtClean="0"/>
          </a:p>
          <a:p>
            <a:pPr algn="just"/>
            <a:r>
              <a:rPr lang="en-US" dirty="0" smtClean="0"/>
              <a:t>2. </a:t>
            </a:r>
            <a:r>
              <a:rPr lang="en-US" b="1" dirty="0" smtClean="0"/>
              <a:t>Problem-Solving: </a:t>
            </a:r>
            <a:r>
              <a:rPr lang="en-US" dirty="0" smtClean="0"/>
              <a:t>They typically require you to break down complex tasks into smaller, manageable steps and find solutions using RPA tools and techniques. </a:t>
            </a:r>
          </a:p>
          <a:p>
            <a:pPr algn="just"/>
            <a:endParaRPr lang="en-US" dirty="0" smtClean="0"/>
          </a:p>
          <a:p>
            <a:pPr algn="just"/>
            <a:r>
              <a:rPr lang="en-US" dirty="0" smtClean="0"/>
              <a:t>3. </a:t>
            </a:r>
            <a:r>
              <a:rPr lang="en-US" b="1" dirty="0" smtClean="0"/>
              <a:t>Competition/Recognition: </a:t>
            </a:r>
            <a:r>
              <a:rPr lang="en-US" dirty="0" smtClean="0"/>
              <a:t>Some challenges are part of </a:t>
            </a:r>
            <a:r>
              <a:rPr lang="en-US" dirty="0" err="1" smtClean="0"/>
              <a:t>hackathons</a:t>
            </a:r>
            <a:r>
              <a:rPr lang="en-US" dirty="0" smtClean="0"/>
              <a:t> or competitions (such as the </a:t>
            </a:r>
            <a:r>
              <a:rPr lang="en-US" dirty="0" err="1" smtClean="0"/>
              <a:t>UiPath</a:t>
            </a:r>
            <a:r>
              <a:rPr lang="en-US" dirty="0" smtClean="0"/>
              <a:t> Automation Challenge), where developers can compete for prizes or recognition.</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Steps to Approach an RPA Challenge</a:t>
            </a:r>
            <a:endParaRPr lang="en-US" b="1" dirty="0"/>
          </a:p>
        </p:txBody>
      </p:sp>
      <p:sp>
        <p:nvSpPr>
          <p:cNvPr id="3" name="Content Placeholder 2"/>
          <p:cNvSpPr>
            <a:spLocks noGrp="1"/>
          </p:cNvSpPr>
          <p:nvPr>
            <p:ph idx="1"/>
          </p:nvPr>
        </p:nvSpPr>
        <p:spPr/>
        <p:txBody>
          <a:bodyPr/>
          <a:lstStyle/>
          <a:p>
            <a:r>
              <a:rPr lang="en-US" dirty="0" smtClean="0"/>
              <a:t>1. </a:t>
            </a:r>
            <a:r>
              <a:rPr lang="en-US" b="1" dirty="0" smtClean="0"/>
              <a:t>Understand the Requirements </a:t>
            </a:r>
          </a:p>
          <a:p>
            <a:r>
              <a:rPr lang="en-US" dirty="0" smtClean="0"/>
              <a:t> </a:t>
            </a:r>
            <a:r>
              <a:rPr lang="en-US" b="1" dirty="0" smtClean="0"/>
              <a:t>Clarify the Problem: </a:t>
            </a:r>
            <a:r>
              <a:rPr lang="en-US" dirty="0" smtClean="0"/>
              <a:t>Carefully read through the challenge description to understand the specific task you need to automate. This could range from simple data entry tasks to more complex workflows that involve system integrations. </a:t>
            </a:r>
          </a:p>
          <a:p>
            <a:r>
              <a:rPr lang="en-US" dirty="0" smtClean="0"/>
              <a:t> </a:t>
            </a:r>
            <a:r>
              <a:rPr lang="en-US" b="1" dirty="0" smtClean="0"/>
              <a:t>Identify the Inputs/Outputs: </a:t>
            </a:r>
            <a:r>
              <a:rPr lang="en-US" dirty="0" smtClean="0"/>
              <a:t>Determine what data is being inputted into the system, what needs to be processed, and the desired output. </a:t>
            </a:r>
          </a:p>
          <a:p>
            <a:r>
              <a:rPr lang="en-US" b="1" dirty="0" smtClean="0"/>
              <a:t>Constraints and Limitations: </a:t>
            </a:r>
            <a:r>
              <a:rPr lang="en-US" dirty="0" smtClean="0"/>
              <a:t>Look for any constraints, such as deadlines, resource limits (e.g., time, memory), and any special instructions (e.g., avoiding </a:t>
            </a:r>
            <a:r>
              <a:rPr lang="en-US" dirty="0" err="1" smtClean="0"/>
              <a:t>hardcoding</a:t>
            </a:r>
            <a:r>
              <a:rPr lang="en-US" dirty="0" smtClean="0"/>
              <a:t>).</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2. Break Down the Task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endParaRPr lang="en-US" dirty="0" smtClean="0"/>
          </a:p>
          <a:p>
            <a:pPr algn="just"/>
            <a:r>
              <a:rPr lang="en-US" b="1" dirty="0" smtClean="0"/>
              <a:t>Process Flow</a:t>
            </a:r>
            <a:r>
              <a:rPr lang="en-US" dirty="0" smtClean="0"/>
              <a:t>: Map out the high-level workflow of the task. What are the different steps or activities involved? </a:t>
            </a:r>
          </a:p>
          <a:p>
            <a:pPr algn="just"/>
            <a:r>
              <a:rPr lang="en-US" b="1" dirty="0" smtClean="0"/>
              <a:t>Data Handling</a:t>
            </a:r>
            <a:r>
              <a:rPr lang="en-US" dirty="0" smtClean="0"/>
              <a:t>: Identify how data will be read, processed, and written to the system (e.g., from Excel, a website, a database, etc.). </a:t>
            </a:r>
          </a:p>
          <a:p>
            <a:pPr algn="just"/>
            <a:r>
              <a:rPr lang="en-US" b="1" dirty="0" smtClean="0"/>
              <a:t>Error Handling</a:t>
            </a:r>
            <a:r>
              <a:rPr lang="en-US" dirty="0" smtClean="0"/>
              <a:t>: Consider what might go wrong (e.g., missing data, incorrect inputs) and plan for error handling.</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3. Plan the Automation</a:t>
            </a:r>
            <a:endParaRPr lang="en-US" dirty="0"/>
          </a:p>
        </p:txBody>
      </p:sp>
      <p:sp>
        <p:nvSpPr>
          <p:cNvPr id="3" name="Content Placeholder 2"/>
          <p:cNvSpPr>
            <a:spLocks noGrp="1"/>
          </p:cNvSpPr>
          <p:nvPr>
            <p:ph idx="1"/>
          </p:nvPr>
        </p:nvSpPr>
        <p:spPr/>
        <p:txBody>
          <a:bodyPr>
            <a:normAutofit/>
          </a:bodyPr>
          <a:lstStyle/>
          <a:p>
            <a:pPr>
              <a:buNone/>
            </a:pPr>
            <a:endParaRPr lang="en-US" dirty="0" smtClean="0"/>
          </a:p>
          <a:p>
            <a:pPr algn="just"/>
            <a:r>
              <a:rPr lang="en-US" b="1" dirty="0" smtClean="0"/>
              <a:t>Activities</a:t>
            </a:r>
            <a:r>
              <a:rPr lang="en-US" dirty="0" smtClean="0"/>
              <a:t>: List the activities you will need to use in the RPA tool (e.g., Read Range, Type Into, Click, Invoke Workflow, etc.). </a:t>
            </a:r>
          </a:p>
          <a:p>
            <a:pPr algn="just"/>
            <a:r>
              <a:rPr lang="en-US" b="1" dirty="0" smtClean="0"/>
              <a:t>Appropriate Methods</a:t>
            </a:r>
            <a:r>
              <a:rPr lang="en-US" dirty="0" smtClean="0"/>
              <a:t>: Decide whether to use </a:t>
            </a:r>
            <a:r>
              <a:rPr lang="en-US" b="1" dirty="0" smtClean="0"/>
              <a:t>image-based automation </a:t>
            </a:r>
            <a:r>
              <a:rPr lang="en-US" dirty="0" smtClean="0"/>
              <a:t>(for applications without UI elements), </a:t>
            </a:r>
            <a:r>
              <a:rPr lang="en-US" b="1" dirty="0" smtClean="0"/>
              <a:t>OCR</a:t>
            </a:r>
            <a:r>
              <a:rPr lang="en-US" dirty="0" smtClean="0"/>
              <a:t>, or </a:t>
            </a:r>
            <a:r>
              <a:rPr lang="en-US" b="1" dirty="0" smtClean="0"/>
              <a:t>web scraping </a:t>
            </a:r>
            <a:r>
              <a:rPr lang="en-US" dirty="0" smtClean="0"/>
              <a:t>for capturing data.</a:t>
            </a:r>
          </a:p>
          <a:p>
            <a:pPr algn="just"/>
            <a:r>
              <a:rPr lang="en-US" b="1" dirty="0" smtClean="0"/>
              <a:t>Error Handling</a:t>
            </a:r>
            <a:r>
              <a:rPr lang="en-US" dirty="0" smtClean="0"/>
              <a:t>: Plan for robust exception handling to ensure the automation doesn’t break if something goes wrong</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4. Build the Workflow </a:t>
            </a:r>
            <a:endParaRPr lang="en-US" dirty="0" smtClean="0"/>
          </a:p>
        </p:txBody>
      </p:sp>
      <p:sp>
        <p:nvSpPr>
          <p:cNvPr id="3" name="Content Placeholder 2"/>
          <p:cNvSpPr>
            <a:spLocks noGrp="1"/>
          </p:cNvSpPr>
          <p:nvPr>
            <p:ph idx="1"/>
          </p:nvPr>
        </p:nvSpPr>
        <p:spPr/>
        <p:txBody>
          <a:bodyPr>
            <a:normAutofit/>
          </a:bodyPr>
          <a:lstStyle/>
          <a:p>
            <a:r>
              <a:rPr lang="en-US" b="1" dirty="0" smtClean="0"/>
              <a:t>UI Interactions</a:t>
            </a:r>
            <a:r>
              <a:rPr lang="en-US" dirty="0" smtClean="0"/>
              <a:t>: If the challenge involves interacting with a website or desktop application, use the </a:t>
            </a:r>
            <a:r>
              <a:rPr lang="en-US" b="1" dirty="0" smtClean="0"/>
              <a:t>Click</a:t>
            </a:r>
            <a:r>
              <a:rPr lang="en-US" dirty="0" smtClean="0"/>
              <a:t>, </a:t>
            </a:r>
            <a:r>
              <a:rPr lang="en-US" b="1" dirty="0" smtClean="0"/>
              <a:t>Type Into</a:t>
            </a:r>
            <a:r>
              <a:rPr lang="en-US" dirty="0" smtClean="0"/>
              <a:t>, and </a:t>
            </a:r>
            <a:r>
              <a:rPr lang="en-US" b="1" dirty="0" smtClean="0"/>
              <a:t>Select Item </a:t>
            </a:r>
            <a:r>
              <a:rPr lang="en-US" dirty="0" smtClean="0"/>
              <a:t>activities to simulate user actions. </a:t>
            </a:r>
          </a:p>
          <a:p>
            <a:r>
              <a:rPr lang="en-US" b="1" dirty="0" smtClean="0"/>
              <a:t>Data Processing</a:t>
            </a:r>
            <a:r>
              <a:rPr lang="en-US" dirty="0" smtClean="0"/>
              <a:t>: If the challenge involves working with structured data (e.g., Excel or databases), use the appropriate data manipulation activities like For Each Row, Write Range, Execute Query, etc. </a:t>
            </a:r>
          </a:p>
          <a:p>
            <a:r>
              <a:rPr lang="en-US" dirty="0" smtClean="0"/>
              <a:t> </a:t>
            </a:r>
            <a:r>
              <a:rPr lang="en-US" b="1" dirty="0" smtClean="0"/>
              <a:t>Automation Logic</a:t>
            </a:r>
            <a:r>
              <a:rPr lang="en-US" dirty="0" smtClean="0"/>
              <a:t>: Implement loops, conditional logic (If statements), and invoke other workflows if necessary</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i="1" dirty="0" smtClean="0"/>
              <a:t>5. Test the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endParaRPr lang="en-US" dirty="0" smtClean="0"/>
          </a:p>
          <a:p>
            <a:pPr algn="just"/>
            <a:r>
              <a:rPr lang="en-US" b="1" dirty="0" smtClean="0"/>
              <a:t>Unit Testing</a:t>
            </a:r>
            <a:r>
              <a:rPr lang="en-US" dirty="0" smtClean="0"/>
              <a:t>: Test individual components of the workflow (e.g., reading data from Excel, clicking a button, etc.). </a:t>
            </a:r>
          </a:p>
          <a:p>
            <a:pPr algn="just"/>
            <a:r>
              <a:rPr lang="en-US" b="1" dirty="0" smtClean="0"/>
              <a:t>Integration Testing</a:t>
            </a:r>
            <a:r>
              <a:rPr lang="en-US" dirty="0" smtClean="0"/>
              <a:t>: Run the full automation to make sure all parts work together seamlessly. </a:t>
            </a:r>
          </a:p>
          <a:p>
            <a:pPr algn="just"/>
            <a:r>
              <a:rPr lang="en-US" b="1" dirty="0" smtClean="0"/>
              <a:t>Edge Cases</a:t>
            </a:r>
            <a:r>
              <a:rPr lang="en-US" dirty="0" smtClean="0"/>
              <a:t>: Test with unexpected inputs or scenarios (e.g., blank cells, missing files) to ensure robustness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6. Optimize and Refine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endParaRPr lang="en-US" dirty="0" smtClean="0"/>
          </a:p>
          <a:p>
            <a:r>
              <a:rPr lang="en-US" b="1" dirty="0" err="1" smtClean="0"/>
              <a:t>Refactor</a:t>
            </a:r>
            <a:r>
              <a:rPr lang="en-US" b="1" dirty="0" smtClean="0"/>
              <a:t> the Code</a:t>
            </a:r>
            <a:r>
              <a:rPr lang="en-US" dirty="0" smtClean="0"/>
              <a:t>: Optimize for efficiency—eliminate unnecessary steps, reduce redundant actions, and streamline workflows. </a:t>
            </a:r>
          </a:p>
          <a:p>
            <a:r>
              <a:rPr lang="en-US" b="1" dirty="0" smtClean="0"/>
              <a:t>Enhance Stability</a:t>
            </a:r>
            <a:r>
              <a:rPr lang="en-US" dirty="0" smtClean="0"/>
              <a:t>: Improve error handling by adding retries, checks for file existence, or user prompts</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7. Submit/Present the Solution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b="1" dirty="0" smtClean="0"/>
              <a:t>Documentation</a:t>
            </a:r>
            <a:r>
              <a:rPr lang="en-US" dirty="0" smtClean="0"/>
              <a:t>: Ensure your solution is well-documented, so others can understand how the workflow works. </a:t>
            </a:r>
          </a:p>
          <a:p>
            <a:pPr algn="just"/>
            <a:r>
              <a:rPr lang="en-US" b="1" dirty="0" smtClean="0"/>
              <a:t>Presentation</a:t>
            </a:r>
            <a:r>
              <a:rPr lang="en-US" dirty="0" smtClean="0"/>
              <a:t>: If it’s part of a competition or a challenge with multiple participants, you might need to present your solution and explain how you approached the task.</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Common Types of RPA Challenges </a:t>
            </a:r>
            <a:endParaRPr lang="en-US" dirty="0" smtClean="0"/>
          </a:p>
        </p:txBody>
      </p:sp>
      <p:sp>
        <p:nvSpPr>
          <p:cNvPr id="3" name="Content Placeholder 2"/>
          <p:cNvSpPr>
            <a:spLocks noGrp="1"/>
          </p:cNvSpPr>
          <p:nvPr>
            <p:ph idx="1"/>
          </p:nvPr>
        </p:nvSpPr>
        <p:spPr/>
        <p:txBody>
          <a:bodyPr/>
          <a:lstStyle/>
          <a:p>
            <a:r>
              <a:rPr lang="en-US" dirty="0" smtClean="0"/>
              <a:t>1. </a:t>
            </a:r>
            <a:r>
              <a:rPr lang="en-US" b="1" dirty="0" smtClean="0"/>
              <a:t>Data Entry Automation</a:t>
            </a:r>
            <a:r>
              <a:rPr lang="en-US" dirty="0" smtClean="0"/>
              <a:t>: </a:t>
            </a:r>
          </a:p>
          <a:p>
            <a:r>
              <a:rPr lang="en-US" dirty="0" smtClean="0"/>
              <a:t>o Automating tasks that involve extracting data from one application (e.g., Excel, web, or emails) and inputting it into another (e.g., ERP systems, websites). </a:t>
            </a:r>
          </a:p>
          <a:p>
            <a:r>
              <a:rPr lang="en-US" dirty="0" smtClean="0"/>
              <a:t>o Example: Automating the extraction of data from invoices and inputting it into a financial system.</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a:t>
            </a:r>
            <a:r>
              <a:rPr lang="en-US" b="1" dirty="0" smtClean="0"/>
              <a:t>Web Scraping</a:t>
            </a:r>
            <a:r>
              <a:rPr lang="en-US" dirty="0" smtClean="0"/>
              <a:t>:</a:t>
            </a:r>
            <a:endParaRPr lang="en-US" dirty="0"/>
          </a:p>
        </p:txBody>
      </p:sp>
      <p:sp>
        <p:nvSpPr>
          <p:cNvPr id="3" name="Content Placeholder 2"/>
          <p:cNvSpPr>
            <a:spLocks noGrp="1"/>
          </p:cNvSpPr>
          <p:nvPr>
            <p:ph idx="1"/>
          </p:nvPr>
        </p:nvSpPr>
        <p:spPr/>
        <p:txBody>
          <a:bodyPr/>
          <a:lstStyle/>
          <a:p>
            <a:r>
              <a:rPr lang="en-US" dirty="0" smtClean="0"/>
              <a:t>Scraping data from websites, handling pagination, and dealing with dynamic content or CAPTCHA. </a:t>
            </a:r>
          </a:p>
          <a:p>
            <a:r>
              <a:rPr lang="en-US" dirty="0" smtClean="0"/>
              <a:t>o Example: Collecting prices from multiple e-commerce websites and aggregating them into an Excel sheet for analysis.</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t>
            </a:r>
            <a:r>
              <a:rPr lang="en-US" b="1" dirty="0" smtClean="0"/>
              <a:t>Excel Automation</a:t>
            </a:r>
            <a:r>
              <a:rPr lang="en-US" dirty="0" smtClean="0"/>
              <a:t>: </a:t>
            </a:r>
            <a:br>
              <a:rPr lang="en-US" dirty="0" smtClean="0"/>
            </a:br>
            <a:endParaRPr lang="en-US" dirty="0"/>
          </a:p>
        </p:txBody>
      </p:sp>
      <p:sp>
        <p:nvSpPr>
          <p:cNvPr id="3" name="Content Placeholder 2"/>
          <p:cNvSpPr>
            <a:spLocks noGrp="1"/>
          </p:cNvSpPr>
          <p:nvPr>
            <p:ph idx="1"/>
          </p:nvPr>
        </p:nvSpPr>
        <p:spPr/>
        <p:txBody>
          <a:bodyPr/>
          <a:lstStyle/>
          <a:p>
            <a:pPr algn="just"/>
            <a:r>
              <a:rPr lang="en-US" dirty="0" smtClean="0"/>
              <a:t>o Reading data from Excel files, processing it, and generating reports or sending emails. </a:t>
            </a:r>
          </a:p>
          <a:p>
            <a:pPr algn="just"/>
            <a:r>
              <a:rPr lang="en-US" dirty="0" smtClean="0"/>
              <a:t>o Example: Generating a weekly report based on data stored in Excel and sending it automatically via email.</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t>
            </a:r>
            <a:r>
              <a:rPr lang="en-US" b="1" dirty="0" smtClean="0"/>
              <a:t>System Integration</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smtClean="0"/>
              <a:t>o Automating the interaction between different systems (e.g., ERP systems, databases, or APIs) using activities like </a:t>
            </a:r>
            <a:r>
              <a:rPr lang="en-US" b="1" dirty="0" smtClean="0"/>
              <a:t>Invoke Workflow</a:t>
            </a:r>
            <a:r>
              <a:rPr lang="en-US" dirty="0" smtClean="0"/>
              <a:t>, </a:t>
            </a:r>
            <a:r>
              <a:rPr lang="en-US" b="1" dirty="0" smtClean="0"/>
              <a:t>API calls</a:t>
            </a:r>
            <a:r>
              <a:rPr lang="en-US" dirty="0" smtClean="0"/>
              <a:t>, or </a:t>
            </a:r>
            <a:r>
              <a:rPr lang="en-US" b="1" dirty="0" smtClean="0"/>
              <a:t>Execute SQL</a:t>
            </a:r>
            <a:r>
              <a:rPr lang="en-US" dirty="0" smtClean="0"/>
              <a:t>. </a:t>
            </a:r>
          </a:p>
          <a:p>
            <a:r>
              <a:rPr lang="en-US" dirty="0" smtClean="0"/>
              <a:t>o Example: Updating customer information in a CRM system from a database.</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a:t>
            </a:r>
            <a:r>
              <a:rPr lang="en-US" b="1" dirty="0" smtClean="0"/>
              <a:t>Image-Based Automation</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smtClean="0"/>
              <a:t>o Dealing with applications where UI elements do not have reliable selectors, and automating interactions based on image recognition. </a:t>
            </a:r>
          </a:p>
          <a:p>
            <a:r>
              <a:rPr lang="en-US" dirty="0" smtClean="0"/>
              <a:t>o Example: Automating actions on applications like Citrix or legacy systems that do not provide good selectors.</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a:t>
            </a:r>
            <a:r>
              <a:rPr lang="en-US" b="1" dirty="0" smtClean="0"/>
              <a:t>Document Processing</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smtClean="0"/>
              <a:t>o Extracting structured data from PDFs, scanned documents, or images using OCR (Optical Character Recognition). </a:t>
            </a:r>
          </a:p>
          <a:p>
            <a:r>
              <a:rPr lang="en-US" dirty="0" smtClean="0"/>
              <a:t>o Example: Reading invoices and extracting key fields (e.g., total amount, invoice number) using OCR and then saving the data in a structured format</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a Simple RPA Challenge: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Scenario</a:t>
            </a:r>
            <a:r>
              <a:rPr lang="en-US" dirty="0" smtClean="0"/>
              <a:t>: Automate the process of opening a website, logging in with given credentials, and extracting some data (e.g., a price from an item) to store it in an Excel file. </a:t>
            </a:r>
          </a:p>
          <a:p>
            <a:r>
              <a:rPr lang="en-US" b="1" dirty="0" smtClean="0"/>
              <a:t>Steps</a:t>
            </a:r>
            <a:r>
              <a:rPr lang="en-US" dirty="0" smtClean="0"/>
              <a:t>: </a:t>
            </a:r>
          </a:p>
          <a:p>
            <a:r>
              <a:rPr lang="en-US" dirty="0" smtClean="0"/>
              <a:t>1. Open the web browser (use the </a:t>
            </a:r>
            <a:r>
              <a:rPr lang="en-US" b="1" dirty="0" smtClean="0"/>
              <a:t>Open Browser </a:t>
            </a:r>
            <a:r>
              <a:rPr lang="en-US" dirty="0" smtClean="0"/>
              <a:t>activity). </a:t>
            </a:r>
          </a:p>
          <a:p>
            <a:r>
              <a:rPr lang="en-US" dirty="0" smtClean="0"/>
              <a:t>2. Navigate to the login page of the website. </a:t>
            </a:r>
          </a:p>
          <a:p>
            <a:r>
              <a:rPr lang="en-US" dirty="0" smtClean="0"/>
              <a:t>3. Use </a:t>
            </a:r>
            <a:r>
              <a:rPr lang="en-US" b="1" dirty="0" smtClean="0"/>
              <a:t>Type Into </a:t>
            </a:r>
            <a:r>
              <a:rPr lang="en-US" dirty="0" smtClean="0"/>
              <a:t>to enter the username and password. </a:t>
            </a:r>
          </a:p>
          <a:p>
            <a:r>
              <a:rPr lang="en-US" dirty="0" smtClean="0"/>
              <a:t>4. Use </a:t>
            </a:r>
            <a:r>
              <a:rPr lang="en-US" b="1" dirty="0" smtClean="0"/>
              <a:t>Click </a:t>
            </a:r>
            <a:r>
              <a:rPr lang="en-US" dirty="0" smtClean="0"/>
              <a:t>to submit the login form. </a:t>
            </a:r>
          </a:p>
          <a:p>
            <a:r>
              <a:rPr lang="en-US" dirty="0" smtClean="0"/>
              <a:t>5. Wait for the page to load and extract the required data using </a:t>
            </a:r>
            <a:r>
              <a:rPr lang="en-US" b="1" dirty="0" smtClean="0"/>
              <a:t>Get Text </a:t>
            </a:r>
            <a:r>
              <a:rPr lang="en-US" dirty="0" smtClean="0"/>
              <a:t>or </a:t>
            </a:r>
            <a:r>
              <a:rPr lang="en-US" b="1" dirty="0" smtClean="0"/>
              <a:t>Scrape Data </a:t>
            </a:r>
            <a:r>
              <a:rPr lang="en-US" dirty="0" smtClean="0"/>
              <a:t>activities. </a:t>
            </a:r>
          </a:p>
          <a:p>
            <a:r>
              <a:rPr lang="en-US" dirty="0" smtClean="0"/>
              <a:t>6. Store the extracted data in an Excel file (use </a:t>
            </a:r>
            <a:r>
              <a:rPr lang="en-US" b="1" dirty="0" smtClean="0"/>
              <a:t>Write Range</a:t>
            </a:r>
            <a:r>
              <a:rPr lang="en-US" dirty="0" smtClean="0"/>
              <a:t>). </a:t>
            </a:r>
          </a:p>
          <a:p>
            <a:r>
              <a:rPr lang="en-US" dirty="0" smtClean="0"/>
              <a:t>7. Close the browser</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Image, Text &amp; Advanced Citrix Automation</a:t>
            </a:r>
            <a:r>
              <a:rPr lang="en-US" dirty="0" smtClean="0"/>
              <a:t>:</a:t>
            </a:r>
            <a:endParaRPr lang="en-US" dirty="0"/>
          </a:p>
        </p:txBody>
      </p:sp>
      <p:sp>
        <p:nvSpPr>
          <p:cNvPr id="3" name="Content Placeholder 2"/>
          <p:cNvSpPr>
            <a:spLocks noGrp="1"/>
          </p:cNvSpPr>
          <p:nvPr>
            <p:ph idx="1"/>
          </p:nvPr>
        </p:nvSpPr>
        <p:spPr/>
        <p:txBody>
          <a:bodyPr/>
          <a:lstStyle/>
          <a:p>
            <a:r>
              <a:rPr lang="en-US" b="1" dirty="0" smtClean="0"/>
              <a:t>Image, Text &amp; Advanced Citrix Automation </a:t>
            </a:r>
            <a:r>
              <a:rPr lang="en-US" dirty="0" smtClean="0"/>
              <a:t>in RPA (Robotic Process Automation) refers to automating processes in environments where traditional selectors or UI automation tools might not be effective. </a:t>
            </a:r>
          </a:p>
          <a:p>
            <a:r>
              <a:rPr lang="en-US" dirty="0" smtClean="0"/>
              <a:t>This often involves automating applications that run in Citrix or other virtual environments, where standard DOM-based (Document Object Model) selectors may not work.</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Image-Based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Image-based automation is used when the UI elements (buttons, menus, etc.) of an application are non-standard or cannot be accessed through traditional selectors (due to lack of accessible tags or when working with image-based UI). </a:t>
            </a:r>
          </a:p>
          <a:p>
            <a:r>
              <a:rPr lang="en-US" b="1" i="1" dirty="0" smtClean="0"/>
              <a:t>Use Cases: </a:t>
            </a:r>
            <a:endParaRPr lang="en-US" dirty="0" smtClean="0"/>
          </a:p>
          <a:p>
            <a:r>
              <a:rPr lang="en-US" dirty="0" smtClean="0"/>
              <a:t>Applications that do not have standard UI elements or accessible selectors (e.g., legacy desktop applications, some web-based apps). </a:t>
            </a:r>
          </a:p>
          <a:p>
            <a:r>
              <a:rPr lang="en-US" dirty="0" smtClean="0"/>
              <a:t>Remote environments like Citrix, where the UI is rendered as an image.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How to Achieve Image-Based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Click Image</a:t>
            </a:r>
            <a:r>
              <a:rPr lang="en-US" dirty="0" smtClean="0"/>
              <a:t>: Use the </a:t>
            </a:r>
            <a:r>
              <a:rPr lang="en-US" b="1" dirty="0" smtClean="0"/>
              <a:t>Click Image </a:t>
            </a:r>
            <a:r>
              <a:rPr lang="en-US" dirty="0" smtClean="0"/>
              <a:t>activity to click on UI elements based on an image match. </a:t>
            </a:r>
          </a:p>
          <a:p>
            <a:r>
              <a:rPr lang="en-US" b="1" dirty="0" smtClean="0"/>
              <a:t>Find Image</a:t>
            </a:r>
            <a:r>
              <a:rPr lang="en-US" dirty="0" smtClean="0"/>
              <a:t>: Use the </a:t>
            </a:r>
            <a:r>
              <a:rPr lang="en-US" b="1" dirty="0" smtClean="0"/>
              <a:t>Find Image </a:t>
            </a:r>
            <a:r>
              <a:rPr lang="en-US" dirty="0" smtClean="0"/>
              <a:t>activity to locate an image on the screen and return the coordinates of the match. </a:t>
            </a:r>
          </a:p>
          <a:p>
            <a:r>
              <a:rPr lang="en-US" b="1" dirty="0" smtClean="0"/>
              <a:t>Hover Image</a:t>
            </a:r>
            <a:r>
              <a:rPr lang="en-US" dirty="0" smtClean="0"/>
              <a:t>: This is useful to hover over an element (like a button) based on its image.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Text-Based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Text-based automation is commonly used when you need to extract or interact with text on a screen or document, typically when dealing with applications that do not have accessible controls, or in situations where images need to be processed. </a:t>
            </a:r>
          </a:p>
          <a:p>
            <a:r>
              <a:rPr lang="en-US" b="1" i="1" dirty="0" smtClean="0"/>
              <a:t>Use Cases: </a:t>
            </a:r>
            <a:endParaRPr lang="en-US" dirty="0" smtClean="0"/>
          </a:p>
          <a:p>
            <a:r>
              <a:rPr lang="en-US" dirty="0" smtClean="0"/>
              <a:t> </a:t>
            </a:r>
          </a:p>
          <a:p>
            <a:r>
              <a:rPr lang="en-US" dirty="0" smtClean="0"/>
              <a:t>Extracting text from documents or applications. </a:t>
            </a:r>
          </a:p>
          <a:p>
            <a:r>
              <a:rPr lang="en-US" dirty="0" smtClean="0"/>
              <a:t> Automating tasks in applications where text appears within fixed regions of the screen, like </a:t>
            </a:r>
          </a:p>
          <a:p>
            <a:r>
              <a:rPr lang="en-US" dirty="0" smtClean="0"/>
              <a:t>reports or form fields.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How to Achieve Text-Based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endParaRPr lang="en-US" dirty="0" smtClean="0"/>
          </a:p>
          <a:p>
            <a:pPr algn="just"/>
            <a:r>
              <a:rPr lang="en-US" b="1" dirty="0" smtClean="0"/>
              <a:t>Get Text</a:t>
            </a:r>
            <a:r>
              <a:rPr lang="en-US" dirty="0" smtClean="0"/>
              <a:t>: Extract text from a region on the screen or a UI element. This is helpful when you're working with applications that have static text. </a:t>
            </a:r>
          </a:p>
          <a:p>
            <a:pPr algn="just"/>
            <a:r>
              <a:rPr lang="en-US" b="1" dirty="0" smtClean="0"/>
              <a:t>OCR (Optical Character Recognition)</a:t>
            </a:r>
            <a:r>
              <a:rPr lang="en-US" dirty="0" smtClean="0"/>
              <a:t>: Use OCR technologies like </a:t>
            </a:r>
            <a:r>
              <a:rPr lang="en-US" b="1" dirty="0" smtClean="0"/>
              <a:t>Google OCR</a:t>
            </a:r>
            <a:r>
              <a:rPr lang="en-US" dirty="0" smtClean="0"/>
              <a:t>, </a:t>
            </a:r>
            <a:r>
              <a:rPr lang="en-US" b="1" dirty="0" smtClean="0"/>
              <a:t>Microsoft OCR</a:t>
            </a:r>
            <a:r>
              <a:rPr lang="en-US" dirty="0" smtClean="0"/>
              <a:t>, or </a:t>
            </a:r>
            <a:r>
              <a:rPr lang="en-US" b="1" dirty="0" err="1" smtClean="0"/>
              <a:t>Tesseract</a:t>
            </a:r>
            <a:r>
              <a:rPr lang="en-US" b="1" dirty="0" smtClean="0"/>
              <a:t> OCR </a:t>
            </a:r>
            <a:r>
              <a:rPr lang="en-US" dirty="0" smtClean="0"/>
              <a:t>to extract text from images, scanned documents, or screen captures. </a:t>
            </a:r>
          </a:p>
          <a:p>
            <a:pPr algn="just"/>
            <a:r>
              <a:rPr lang="en-US" b="1" dirty="0" smtClean="0"/>
              <a:t>Screen Scraping</a:t>
            </a:r>
            <a:r>
              <a:rPr lang="en-US" dirty="0" smtClean="0"/>
              <a:t>: Use screen scraping methods to extract text from regions of a screen or window. This can work well for applications where text is displayed, but traditional selectors are unavailable.</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3. Advanced Citrix Automation</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Citrix environments are often used in virtual desktops or thin client setups, where applications run on remote servers and are accessed through Citrix Receiver. The challenge in Citrix automation lies in the fact that traditional automation tools do not work well because </a:t>
            </a:r>
          </a:p>
          <a:p>
            <a:r>
              <a:rPr lang="en-US" dirty="0" smtClean="0"/>
              <a:t>UI elements are rendered as images (in a virtualized desktop) rather than native elements.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How to Achieve Advanced Citrix Automation: </a:t>
            </a:r>
            <a:endParaRPr lang="en-US" dirty="0"/>
          </a:p>
        </p:txBody>
      </p:sp>
      <p:sp>
        <p:nvSpPr>
          <p:cNvPr id="3" name="Content Placeholder 2"/>
          <p:cNvSpPr>
            <a:spLocks noGrp="1"/>
          </p:cNvSpPr>
          <p:nvPr>
            <p:ph idx="1"/>
          </p:nvPr>
        </p:nvSpPr>
        <p:spPr/>
        <p:txBody>
          <a:bodyPr>
            <a:normAutofit/>
          </a:bodyPr>
          <a:lstStyle/>
          <a:p>
            <a:r>
              <a:rPr lang="en-US" b="1" dirty="0" smtClean="0"/>
              <a:t>Image-Based Automation</a:t>
            </a:r>
            <a:r>
              <a:rPr lang="en-US" dirty="0" smtClean="0"/>
              <a:t>: As the Citrix environment renders applications as images, you will have to rely heavily on </a:t>
            </a:r>
            <a:r>
              <a:rPr lang="en-US" b="1" dirty="0" smtClean="0"/>
              <a:t>Click Image</a:t>
            </a:r>
            <a:r>
              <a:rPr lang="en-US" dirty="0" smtClean="0"/>
              <a:t>, </a:t>
            </a:r>
            <a:r>
              <a:rPr lang="en-US" b="1" dirty="0" smtClean="0"/>
              <a:t>Find Image</a:t>
            </a:r>
            <a:r>
              <a:rPr lang="en-US" dirty="0" smtClean="0"/>
              <a:t>, and other image-based activities to interact with these elements. </a:t>
            </a:r>
          </a:p>
          <a:p>
            <a:r>
              <a:rPr lang="en-US" b="1" dirty="0" smtClean="0"/>
              <a:t>OCR (Optical Character Recognition)</a:t>
            </a:r>
            <a:r>
              <a:rPr lang="en-US" dirty="0" smtClean="0"/>
              <a:t>: For extracting text from Citrix applications, use OCR. </a:t>
            </a:r>
          </a:p>
          <a:p>
            <a:r>
              <a:rPr lang="en-US" dirty="0" smtClean="0"/>
              <a:t>However, make sure to configure OCR settings for optimal accuracy, as text within Citrix is often rendered as images. </a:t>
            </a:r>
          </a:p>
          <a:p>
            <a:pPr>
              <a:buNone/>
            </a:pPr>
            <a:endParaRPr lang="en-US" dirty="0" smtClean="0"/>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smtClean="0"/>
              <a:t>Citrix Recording</a:t>
            </a:r>
            <a:r>
              <a:rPr lang="en-US" dirty="0" smtClean="0"/>
              <a:t>: </a:t>
            </a:r>
            <a:r>
              <a:rPr lang="en-US" dirty="0" err="1" smtClean="0"/>
              <a:t>UiPath</a:t>
            </a:r>
            <a:r>
              <a:rPr lang="en-US" dirty="0" smtClean="0"/>
              <a:t> offers </a:t>
            </a:r>
            <a:r>
              <a:rPr lang="en-US" b="1" dirty="0" smtClean="0"/>
              <a:t>Citrix Recording </a:t>
            </a:r>
            <a:r>
              <a:rPr lang="en-US" dirty="0" smtClean="0"/>
              <a:t>as a specialized method for automating Citrix based applications. This recording mode is specifically tailored for virtual environments and allows you to capture screen-based actions. </a:t>
            </a:r>
          </a:p>
          <a:p>
            <a:pPr algn="just"/>
            <a:r>
              <a:rPr lang="en-US" b="1" dirty="0" smtClean="0"/>
              <a:t>UI Automation via Citrix</a:t>
            </a:r>
            <a:r>
              <a:rPr lang="en-US" dirty="0" smtClean="0"/>
              <a:t>: You can use </a:t>
            </a:r>
            <a:r>
              <a:rPr lang="en-US" b="1" dirty="0" smtClean="0"/>
              <a:t>Citrix automation </a:t>
            </a:r>
            <a:r>
              <a:rPr lang="en-US" dirty="0" smtClean="0"/>
              <a:t>activities in </a:t>
            </a:r>
            <a:r>
              <a:rPr lang="en-US" dirty="0" err="1" smtClean="0"/>
              <a:t>UiPath</a:t>
            </a:r>
            <a:r>
              <a:rPr lang="en-US" dirty="0" smtClean="0"/>
              <a:t>, such as </a:t>
            </a:r>
            <a:r>
              <a:rPr lang="en-US" b="1" dirty="0" smtClean="0"/>
              <a:t>Click Image</a:t>
            </a:r>
            <a:r>
              <a:rPr lang="en-US" dirty="0" smtClean="0"/>
              <a:t>, </a:t>
            </a:r>
            <a:r>
              <a:rPr lang="en-US" b="1" dirty="0" smtClean="0"/>
              <a:t>Type Into</a:t>
            </a:r>
            <a:r>
              <a:rPr lang="en-US" dirty="0" smtClean="0"/>
              <a:t>, and </a:t>
            </a:r>
            <a:r>
              <a:rPr lang="en-US" b="1" dirty="0" smtClean="0"/>
              <a:t>Get Text </a:t>
            </a:r>
            <a:r>
              <a:rPr lang="en-US" dirty="0" smtClean="0"/>
              <a:t>when the application is virtualized. </a:t>
            </a:r>
          </a:p>
          <a:p>
            <a:pPr algn="just"/>
            <a:r>
              <a:rPr lang="en-US" b="1" dirty="0" smtClean="0"/>
              <a:t>Computer Vision</a:t>
            </a:r>
            <a:r>
              <a:rPr lang="en-US" dirty="0" smtClean="0"/>
              <a:t>: </a:t>
            </a:r>
            <a:r>
              <a:rPr lang="en-US" dirty="0" err="1" smtClean="0"/>
              <a:t>UiPath’s</a:t>
            </a:r>
            <a:r>
              <a:rPr lang="en-US" dirty="0" smtClean="0"/>
              <a:t> </a:t>
            </a:r>
            <a:r>
              <a:rPr lang="en-US" b="1" dirty="0" smtClean="0"/>
              <a:t>Computer Vision </a:t>
            </a:r>
            <a:r>
              <a:rPr lang="en-US" dirty="0" smtClean="0"/>
              <a:t>activities are increasingly used in Citrix environments to detect UI elements based on visual properties, enabling automation without relying on image-based matching alone.</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Keyboard-Based Automation in RPA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smtClean="0"/>
              <a:t>Keyboard-based automation </a:t>
            </a:r>
            <a:r>
              <a:rPr lang="en-US" dirty="0" smtClean="0"/>
              <a:t>is a technique used to simulate human keyboard actions (such as typing, pressing keys, and sending key combinations) to interact with applications and systems during the automation process. </a:t>
            </a:r>
          </a:p>
          <a:p>
            <a:pPr algn="just"/>
            <a:r>
              <a:rPr lang="en-US" dirty="0" smtClean="0"/>
              <a:t>This method is particularly useful when interacting with applications that require text input, navigating menus, or triggering actions via keyboard shortcuts. </a:t>
            </a:r>
          </a:p>
          <a:p>
            <a:pPr algn="just"/>
            <a:r>
              <a:rPr lang="en-US" dirty="0" smtClean="0"/>
              <a:t>In </a:t>
            </a:r>
            <a:r>
              <a:rPr lang="en-US" b="1" dirty="0" err="1" smtClean="0"/>
              <a:t>UiPath</a:t>
            </a:r>
            <a:r>
              <a:rPr lang="en-US" dirty="0" smtClean="0"/>
              <a:t>, keyboard-based automation is achieved through specific activities that allow the robot to simulate keyboard input</a:t>
            </a:r>
          </a:p>
          <a:p>
            <a:pPr algn="just"/>
            <a:r>
              <a:rPr lang="en-US" dirty="0" smtClean="0"/>
              <a:t>Providing a powerful tool for automating applications where traditional selectors or UI-based automation are not effective or possible.</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Common Use Cases for Keyboard-Based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algn="just">
              <a:buNone/>
            </a:pPr>
            <a:r>
              <a:rPr lang="en-US" dirty="0" smtClean="0"/>
              <a:t>1. </a:t>
            </a:r>
            <a:r>
              <a:rPr lang="en-US" b="1" dirty="0" smtClean="0"/>
              <a:t>Data Entry</a:t>
            </a:r>
            <a:r>
              <a:rPr lang="en-US" dirty="0" smtClean="0"/>
              <a:t>: Automating the process of typing data into forms or spreadsheets. </a:t>
            </a:r>
          </a:p>
          <a:p>
            <a:pPr algn="just">
              <a:buNone/>
            </a:pPr>
            <a:r>
              <a:rPr lang="en-US" dirty="0" smtClean="0"/>
              <a:t>2. </a:t>
            </a:r>
            <a:r>
              <a:rPr lang="en-US" b="1" dirty="0" smtClean="0"/>
              <a:t>Triggering Keyboard Shortcuts</a:t>
            </a:r>
            <a:r>
              <a:rPr lang="en-US" dirty="0" smtClean="0"/>
              <a:t>: Many applications rely on keyboard shortcuts (e.g., "</a:t>
            </a:r>
            <a:r>
              <a:rPr lang="en-US" dirty="0" err="1" smtClean="0"/>
              <a:t>Ctrl+C</a:t>
            </a:r>
            <a:r>
              <a:rPr lang="en-US" dirty="0" smtClean="0"/>
              <a:t>" for </a:t>
            </a:r>
          </a:p>
          <a:p>
            <a:pPr algn="just">
              <a:buNone/>
            </a:pPr>
            <a:r>
              <a:rPr lang="en-US" dirty="0" smtClean="0"/>
              <a:t>copy, "</a:t>
            </a:r>
            <a:r>
              <a:rPr lang="en-US" dirty="0" err="1" smtClean="0"/>
              <a:t>Alt+Tab</a:t>
            </a:r>
            <a:r>
              <a:rPr lang="en-US" dirty="0" smtClean="0"/>
              <a:t>" for switching windows). Keyboard-based automation helps automate these </a:t>
            </a:r>
          </a:p>
          <a:p>
            <a:pPr algn="just">
              <a:buNone/>
            </a:pPr>
            <a:r>
              <a:rPr lang="en-US" dirty="0" smtClean="0"/>
              <a:t>tasks. </a:t>
            </a:r>
          </a:p>
          <a:p>
            <a:pPr algn="just">
              <a:buNone/>
            </a:pPr>
            <a:r>
              <a:rPr lang="en-US" dirty="0" smtClean="0"/>
              <a:t>3. </a:t>
            </a:r>
            <a:r>
              <a:rPr lang="en-US" b="1" dirty="0" smtClean="0"/>
              <a:t>Navigating Menus or Dialogs</a:t>
            </a:r>
            <a:r>
              <a:rPr lang="en-US" dirty="0" smtClean="0"/>
              <a:t>: Sometimes, users need to navigate through complex menus or </a:t>
            </a:r>
          </a:p>
          <a:p>
            <a:pPr algn="just">
              <a:buNone/>
            </a:pPr>
            <a:r>
              <a:rPr lang="en-US" dirty="0" smtClean="0"/>
              <a:t>dialog boxes where mouse clicks may not be effective. </a:t>
            </a:r>
          </a:p>
          <a:p>
            <a:pPr algn="just">
              <a:buNone/>
            </a:pPr>
            <a:r>
              <a:rPr lang="en-US" dirty="0" smtClean="0"/>
              <a:t>4. </a:t>
            </a:r>
            <a:r>
              <a:rPr lang="en-US" b="1" dirty="0" smtClean="0"/>
              <a:t>Interacting with Legacy Applications</a:t>
            </a:r>
            <a:r>
              <a:rPr lang="en-US" dirty="0" smtClean="0"/>
              <a:t>: Older or legacy applications often do not have accessible </a:t>
            </a:r>
          </a:p>
          <a:p>
            <a:pPr algn="just">
              <a:buNone/>
            </a:pPr>
            <a:r>
              <a:rPr lang="en-US" dirty="0" smtClean="0"/>
              <a:t>UI elements and rely heavily on keyboard navigation for interaction. </a:t>
            </a:r>
          </a:p>
          <a:p>
            <a:pPr algn="just">
              <a:buNone/>
            </a:pPr>
            <a:r>
              <a:rPr lang="en-US" dirty="0" smtClean="0"/>
              <a:t>5. </a:t>
            </a:r>
            <a:r>
              <a:rPr lang="en-US" b="1" dirty="0" smtClean="0"/>
              <a:t>Web Applications with Keyboard Focus</a:t>
            </a:r>
            <a:r>
              <a:rPr lang="en-US" dirty="0" smtClean="0"/>
              <a:t>: Some web applications or forms may not support </a:t>
            </a:r>
          </a:p>
          <a:p>
            <a:pPr algn="just">
              <a:buNone/>
            </a:pPr>
            <a:r>
              <a:rPr lang="en-US" dirty="0" smtClean="0"/>
              <a:t>direct UI interaction and instead depend on keyboard focus for navigation (e.g., filling out fields </a:t>
            </a:r>
          </a:p>
          <a:p>
            <a:pPr algn="just">
              <a:buNone/>
            </a:pPr>
            <a:r>
              <a:rPr lang="en-US" dirty="0" smtClean="0"/>
              <a:t>using the Tab key).</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Keyboard-Based Automation in </a:t>
            </a:r>
            <a:r>
              <a:rPr lang="en-US" b="1" dirty="0" err="1" smtClean="0"/>
              <a:t>UiPath</a:t>
            </a:r>
            <a:endParaRPr lang="en-US" dirty="0"/>
          </a:p>
        </p:txBody>
      </p:sp>
      <p:sp>
        <p:nvSpPr>
          <p:cNvPr id="3" name="Content Placeholder 2"/>
          <p:cNvSpPr>
            <a:spLocks noGrp="1"/>
          </p:cNvSpPr>
          <p:nvPr>
            <p:ph idx="1"/>
          </p:nvPr>
        </p:nvSpPr>
        <p:spPr/>
        <p:txBody>
          <a:bodyPr>
            <a:normAutofit/>
          </a:bodyPr>
          <a:lstStyle/>
          <a:p>
            <a:r>
              <a:rPr lang="en-US" b="1" i="1" dirty="0" smtClean="0"/>
              <a:t>1. Type Into</a:t>
            </a:r>
          </a:p>
          <a:p>
            <a:endParaRPr lang="en-US" b="1" dirty="0" smtClean="0"/>
          </a:p>
          <a:p>
            <a:pPr lvl="1"/>
            <a:r>
              <a:rPr lang="en-US" b="1" dirty="0" smtClean="0"/>
              <a:t>Parameters and Features</a:t>
            </a:r>
            <a:r>
              <a:rPr lang="en-US" dirty="0" smtClean="0"/>
              <a:t>: </a:t>
            </a:r>
          </a:p>
          <a:p>
            <a:pPr lvl="2"/>
            <a:r>
              <a:rPr lang="en-US" b="1" dirty="0" smtClean="0"/>
              <a:t>Text</a:t>
            </a:r>
            <a:r>
              <a:rPr lang="en-US" dirty="0" smtClean="0"/>
              <a:t>: The string of text that you want to type into the field. </a:t>
            </a:r>
          </a:p>
          <a:p>
            <a:pPr lvl="1"/>
            <a:r>
              <a:rPr lang="en-US" b="1" dirty="0" err="1" smtClean="0"/>
              <a:t>SimulateType</a:t>
            </a:r>
            <a:r>
              <a:rPr lang="en-US" dirty="0" smtClean="0"/>
              <a:t>: Allows you to simulate the keystrokes in the background without showing the input visually. </a:t>
            </a:r>
          </a:p>
          <a:p>
            <a:pPr lvl="1"/>
            <a:r>
              <a:rPr lang="en-US" b="1" dirty="0" err="1" smtClean="0"/>
              <a:t>SendWindowMessages</a:t>
            </a:r>
            <a:r>
              <a:rPr lang="en-US" dirty="0" smtClean="0"/>
              <a:t>: Sends text via UI messages, often faster than </a:t>
            </a:r>
            <a:r>
              <a:rPr lang="en-US" dirty="0" err="1" smtClean="0"/>
              <a:t>SimulateType</a:t>
            </a:r>
            <a:r>
              <a:rPr lang="en-US" dirty="0" smtClean="0"/>
              <a:t>.</a:t>
            </a:r>
          </a:p>
          <a:p>
            <a:pPr lvl="1"/>
            <a:r>
              <a:rPr lang="en-US" dirty="0" smtClean="0"/>
              <a:t> </a:t>
            </a:r>
            <a:r>
              <a:rPr lang="en-US" b="1" dirty="0" err="1" smtClean="0"/>
              <a:t>DelayBetweenKeys</a:t>
            </a:r>
            <a:r>
              <a:rPr lang="en-US" dirty="0" smtClean="0"/>
              <a:t>: Specifies the time delay between each keystroke.</a:t>
            </a:r>
            <a:endParaRPr lang="en-US" b="1" i="1" dirty="0" smtClean="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t>2. Send Hotkey</a:t>
            </a:r>
          </a:p>
          <a:p>
            <a:r>
              <a:rPr lang="en-US" b="1" dirty="0" smtClean="0"/>
              <a:t>Parameters</a:t>
            </a:r>
            <a:r>
              <a:rPr lang="en-US" dirty="0" smtClean="0"/>
              <a:t>: </a:t>
            </a:r>
          </a:p>
          <a:p>
            <a:r>
              <a:rPr lang="en-US" b="1" dirty="0" smtClean="0"/>
              <a:t>Key</a:t>
            </a:r>
            <a:r>
              <a:rPr lang="en-US" dirty="0" smtClean="0"/>
              <a:t>: The key or combination of keys you want to simulate (e.g., "</a:t>
            </a:r>
            <a:r>
              <a:rPr lang="en-US" dirty="0" err="1" smtClean="0"/>
              <a:t>Ctrl+P</a:t>
            </a:r>
            <a:r>
              <a:rPr lang="en-US" dirty="0" smtClean="0"/>
              <a:t>", "</a:t>
            </a:r>
            <a:r>
              <a:rPr lang="en-US" dirty="0" err="1" smtClean="0"/>
              <a:t>Alt+Tab</a:t>
            </a:r>
            <a:r>
              <a:rPr lang="en-US" dirty="0" smtClean="0"/>
              <a:t>"). </a:t>
            </a:r>
          </a:p>
          <a:p>
            <a:r>
              <a:rPr lang="en-US" b="1" dirty="0" smtClean="0"/>
              <a:t>Modifiers</a:t>
            </a:r>
            <a:r>
              <a:rPr lang="en-US" dirty="0" smtClean="0"/>
              <a:t>: You can combine modifier keys (e.g., Shift, Ctrl) with other keys. </a:t>
            </a:r>
          </a:p>
          <a:p>
            <a:r>
              <a:rPr lang="en-US" dirty="0" smtClean="0"/>
              <a:t> </a:t>
            </a:r>
            <a:r>
              <a:rPr lang="en-US" b="1" dirty="0" smtClean="0"/>
              <a:t>Window</a:t>
            </a:r>
            <a:r>
              <a:rPr lang="en-US" dirty="0" smtClean="0"/>
              <a:t>: The window to send the hotkey to, if specified.</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t>3. Press Key</a:t>
            </a:r>
          </a:p>
          <a:p>
            <a:r>
              <a:rPr lang="en-US" dirty="0" smtClean="0"/>
              <a:t>The </a:t>
            </a:r>
            <a:r>
              <a:rPr lang="en-US" b="1" dirty="0" smtClean="0"/>
              <a:t>Press Key </a:t>
            </a:r>
            <a:r>
              <a:rPr lang="en-US" dirty="0" smtClean="0"/>
              <a:t>activity is similar to </a:t>
            </a:r>
            <a:r>
              <a:rPr lang="en-US" b="1" dirty="0" smtClean="0"/>
              <a:t>Send Hotkey </a:t>
            </a:r>
            <a:r>
              <a:rPr lang="en-US" dirty="0" smtClean="0"/>
              <a:t>but simulates the press of a single key. This can be useful for simpler actions such as pressing the </a:t>
            </a:r>
            <a:r>
              <a:rPr lang="en-US" b="1" dirty="0" smtClean="0"/>
              <a:t>Enter</a:t>
            </a:r>
            <a:r>
              <a:rPr lang="en-US" dirty="0" smtClean="0"/>
              <a:t>, </a:t>
            </a:r>
            <a:r>
              <a:rPr lang="en-US" b="1" dirty="0" smtClean="0"/>
              <a:t>Esc</a:t>
            </a:r>
            <a:r>
              <a:rPr lang="en-US" dirty="0" smtClean="0"/>
              <a:t>, or </a:t>
            </a:r>
            <a:r>
              <a:rPr lang="en-US" b="1" dirty="0" smtClean="0"/>
              <a:t>Tab </a:t>
            </a:r>
            <a:r>
              <a:rPr lang="en-US" dirty="0" smtClean="0"/>
              <a:t>keys.</a:t>
            </a:r>
          </a:p>
          <a:p>
            <a:r>
              <a:rPr lang="en-US" b="1" i="1" dirty="0" smtClean="0"/>
              <a:t>4. Key Modifier (Shift, Ctrl, Alt) </a:t>
            </a:r>
            <a:endParaRPr lang="en-US" dirty="0" smtClean="0"/>
          </a:p>
          <a:p>
            <a:r>
              <a:rPr lang="en-US" dirty="0" smtClean="0"/>
              <a:t>You can use </a:t>
            </a:r>
            <a:r>
              <a:rPr lang="en-US" b="1" dirty="0" smtClean="0"/>
              <a:t>Send Hotkey </a:t>
            </a:r>
            <a:r>
              <a:rPr lang="en-US" dirty="0" smtClean="0"/>
              <a:t>and </a:t>
            </a:r>
            <a:r>
              <a:rPr lang="en-US" b="1" dirty="0" smtClean="0"/>
              <a:t>Press Key </a:t>
            </a:r>
            <a:r>
              <a:rPr lang="en-US" dirty="0" smtClean="0"/>
              <a:t>to simulate key modifiers such as </a:t>
            </a:r>
            <a:r>
              <a:rPr lang="en-US" b="1" dirty="0" smtClean="0"/>
              <a:t>Shift</a:t>
            </a:r>
            <a:r>
              <a:rPr lang="en-US" dirty="0" smtClean="0"/>
              <a:t>, </a:t>
            </a:r>
            <a:r>
              <a:rPr lang="en-US" b="1" dirty="0" smtClean="0"/>
              <a:t>Ctrl</a:t>
            </a:r>
            <a:r>
              <a:rPr lang="en-US" dirty="0" smtClean="0"/>
              <a:t>, and </a:t>
            </a:r>
            <a:r>
              <a:rPr lang="en-US" b="1" dirty="0" smtClean="0"/>
              <a:t>Alt</a:t>
            </a:r>
            <a:r>
              <a:rPr lang="en-US" dirty="0" smtClean="0"/>
              <a:t>. </a:t>
            </a:r>
          </a:p>
          <a:p>
            <a:r>
              <a:rPr lang="en-US" dirty="0" smtClean="0"/>
              <a:t>These modifiers are essential when combining keys for shortcuts or special operations.</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Combining Keyboard-Based Automation with Other Techniques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lgn="just"/>
            <a:r>
              <a:rPr lang="en-US" dirty="0" smtClean="0"/>
              <a:t>1. </a:t>
            </a:r>
            <a:r>
              <a:rPr lang="en-US" b="1" dirty="0" smtClean="0"/>
              <a:t>Using Hotkeys with Mouse Actions</a:t>
            </a:r>
            <a:r>
              <a:rPr lang="en-US" dirty="0" smtClean="0"/>
              <a:t>: Sometimes, it's necessary to use both mouse clicks and keyboard shortcuts. For example, you might need to click on a button to open a dialog and then use </a:t>
            </a:r>
            <a:r>
              <a:rPr lang="en-US" b="1" dirty="0" smtClean="0"/>
              <a:t>Send Hotkey </a:t>
            </a:r>
            <a:r>
              <a:rPr lang="en-US" dirty="0" smtClean="0"/>
              <a:t>to press a button within the dialog. </a:t>
            </a:r>
          </a:p>
          <a:p>
            <a:pPr algn="just"/>
            <a:r>
              <a:rPr lang="en-US" dirty="0" smtClean="0"/>
              <a:t>2. </a:t>
            </a:r>
            <a:r>
              <a:rPr lang="en-US" b="1" dirty="0" smtClean="0"/>
              <a:t>Text Extraction with OCR</a:t>
            </a:r>
            <a:r>
              <a:rPr lang="en-US" dirty="0" smtClean="0"/>
              <a:t>: Keyboard-based automation can work hand-in-hand with </a:t>
            </a:r>
            <a:r>
              <a:rPr lang="en-US" b="1" dirty="0" smtClean="0"/>
              <a:t>OCR </a:t>
            </a:r>
            <a:r>
              <a:rPr lang="en-US" dirty="0" smtClean="0"/>
              <a:t>(Optical Character Recognition). For example, you can extract text from a scanned document (using OCR) and then input that text into a form using </a:t>
            </a:r>
            <a:r>
              <a:rPr lang="en-US" b="1" dirty="0" smtClean="0"/>
              <a:t>Type Into</a:t>
            </a:r>
            <a:r>
              <a:rPr lang="en-US" dirty="0" smtClean="0"/>
              <a:t>. </a:t>
            </a:r>
          </a:p>
          <a:p>
            <a:pPr algn="just"/>
            <a:r>
              <a:rPr lang="en-US" dirty="0" smtClean="0"/>
              <a:t>3. </a:t>
            </a:r>
            <a:r>
              <a:rPr lang="en-US" b="1" dirty="0" smtClean="0"/>
              <a:t>Error Handling with Keyboard Automation</a:t>
            </a:r>
            <a:r>
              <a:rPr lang="en-US" dirty="0" smtClean="0"/>
              <a:t>: Always add error handling when simulating keystrokes to ensure that unexpected situations, such as a slow application or focus issues, don’t interrupt the automation process</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Example Workflow Using Keyboard-Based Automation: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1. </a:t>
            </a:r>
            <a:r>
              <a:rPr lang="en-US" b="1" dirty="0" smtClean="0"/>
              <a:t>Open a Web Application</a:t>
            </a:r>
            <a:r>
              <a:rPr lang="en-US" dirty="0" smtClean="0"/>
              <a:t>: Use the </a:t>
            </a:r>
            <a:r>
              <a:rPr lang="en-US" b="1" dirty="0" smtClean="0"/>
              <a:t>Open Browser </a:t>
            </a:r>
            <a:r>
              <a:rPr lang="en-US" dirty="0" smtClean="0"/>
              <a:t>activity to launch the application. </a:t>
            </a:r>
          </a:p>
          <a:p>
            <a:r>
              <a:rPr lang="en-US" dirty="0" smtClean="0"/>
              <a:t>2. </a:t>
            </a:r>
            <a:r>
              <a:rPr lang="en-US" b="1" dirty="0" smtClean="0"/>
              <a:t>Navigate with Tab Key</a:t>
            </a:r>
            <a:r>
              <a:rPr lang="en-US" dirty="0" smtClean="0"/>
              <a:t>: Use the </a:t>
            </a:r>
            <a:r>
              <a:rPr lang="en-US" b="1" dirty="0" smtClean="0"/>
              <a:t>Send Hotkey </a:t>
            </a:r>
            <a:r>
              <a:rPr lang="en-US" dirty="0" smtClean="0"/>
              <a:t>activity to simulate pressing the </a:t>
            </a:r>
            <a:r>
              <a:rPr lang="en-US" b="1" dirty="0" smtClean="0"/>
              <a:t>Tab </a:t>
            </a:r>
            <a:r>
              <a:rPr lang="en-US" dirty="0" smtClean="0"/>
              <a:t>key to move between fields. </a:t>
            </a:r>
          </a:p>
          <a:p>
            <a:r>
              <a:rPr lang="en-US" dirty="0" smtClean="0"/>
              <a:t>3. </a:t>
            </a:r>
            <a:r>
              <a:rPr lang="en-US" b="1" dirty="0" smtClean="0"/>
              <a:t>Enter Data</a:t>
            </a:r>
            <a:r>
              <a:rPr lang="en-US" dirty="0" smtClean="0"/>
              <a:t>: Use the </a:t>
            </a:r>
            <a:r>
              <a:rPr lang="en-US" b="1" dirty="0" smtClean="0"/>
              <a:t>Type Into </a:t>
            </a:r>
            <a:r>
              <a:rPr lang="en-US" dirty="0" smtClean="0"/>
              <a:t>activity to type data into the fields (like username and password). </a:t>
            </a:r>
          </a:p>
          <a:p>
            <a:r>
              <a:rPr lang="en-US" dirty="0" smtClean="0"/>
              <a:t>4. </a:t>
            </a:r>
            <a:r>
              <a:rPr lang="en-US" b="1" dirty="0" smtClean="0"/>
              <a:t>Submit Form</a:t>
            </a:r>
            <a:r>
              <a:rPr lang="en-US" dirty="0" smtClean="0"/>
              <a:t>: Press </a:t>
            </a:r>
            <a:r>
              <a:rPr lang="en-US" b="1" dirty="0" smtClean="0"/>
              <a:t>Enter </a:t>
            </a:r>
            <a:r>
              <a:rPr lang="en-US" dirty="0" smtClean="0"/>
              <a:t>using the </a:t>
            </a:r>
            <a:r>
              <a:rPr lang="en-US" b="1" dirty="0" smtClean="0"/>
              <a:t>Press Key </a:t>
            </a:r>
            <a:r>
              <a:rPr lang="en-US" dirty="0" smtClean="0"/>
              <a:t>activity to submit the form. </a:t>
            </a:r>
          </a:p>
          <a:p>
            <a:r>
              <a:rPr lang="en-US" dirty="0" smtClean="0"/>
              <a:t>5. </a:t>
            </a:r>
            <a:r>
              <a:rPr lang="en-US" b="1" dirty="0" smtClean="0"/>
              <a:t>Close Application</a:t>
            </a:r>
            <a:r>
              <a:rPr lang="en-US" dirty="0" smtClean="0"/>
              <a:t>: Use the </a:t>
            </a:r>
            <a:r>
              <a:rPr lang="en-US" b="1" dirty="0" smtClean="0"/>
              <a:t>Send Hotkey </a:t>
            </a:r>
            <a:r>
              <a:rPr lang="en-US" dirty="0" smtClean="0"/>
              <a:t>activity to simulate pressing </a:t>
            </a:r>
            <a:r>
              <a:rPr lang="en-US" b="1" dirty="0" smtClean="0"/>
              <a:t>Alt+F4 </a:t>
            </a:r>
            <a:r>
              <a:rPr lang="en-US" dirty="0" smtClean="0"/>
              <a:t>to close the application.</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Citrix Automation challenges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b="1" dirty="0" smtClean="0"/>
              <a:t>Advanced Citrix Automation Challenges in RPA Tools (</a:t>
            </a:r>
            <a:r>
              <a:rPr lang="en-US" b="1" dirty="0" err="1" smtClean="0"/>
              <a:t>UiPath</a:t>
            </a:r>
            <a:r>
              <a:rPr lang="en-US" b="1" dirty="0" smtClean="0"/>
              <a:t>, Blue Prism, Automation Anywhere, Power Automate, etc.) </a:t>
            </a:r>
            <a:endParaRPr lang="en-US" dirty="0" smtClean="0"/>
          </a:p>
          <a:p>
            <a:pPr algn="just"/>
            <a:r>
              <a:rPr lang="en-US" dirty="0" smtClean="0"/>
              <a:t>Citrix automation is one of the most challenging tasks in </a:t>
            </a:r>
            <a:r>
              <a:rPr lang="en-US" b="1" dirty="0" smtClean="0"/>
              <a:t>Robotic Process Automation (RPA) </a:t>
            </a:r>
            <a:r>
              <a:rPr lang="en-US" dirty="0" smtClean="0"/>
              <a:t>due to the virtualized nature of Citrix environments. </a:t>
            </a:r>
          </a:p>
          <a:p>
            <a:pPr algn="just"/>
            <a:r>
              <a:rPr lang="en-US" dirty="0" smtClean="0"/>
              <a:t>Unlike traditional desktop automation, RPA tools </a:t>
            </a:r>
            <a:r>
              <a:rPr lang="en-US" b="1" dirty="0" smtClean="0"/>
              <a:t>cannot directly interact with elements </a:t>
            </a:r>
            <a:r>
              <a:rPr lang="en-US" dirty="0" smtClean="0"/>
              <a:t>inside a Citrix session. </a:t>
            </a:r>
          </a:p>
          <a:p>
            <a:pPr algn="just"/>
            <a:r>
              <a:rPr lang="en-US" dirty="0" smtClean="0"/>
              <a:t>Instead, they must rely on </a:t>
            </a:r>
            <a:r>
              <a:rPr lang="en-US" b="1" dirty="0" smtClean="0"/>
              <a:t>image recognition, OCR, and keystroke-based automation</a:t>
            </a:r>
            <a:r>
              <a:rPr lang="en-US" dirty="0" smtClean="0"/>
              <a:t>, which introduces several challenges</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3720" y="426720"/>
            <a:ext cx="10515600" cy="5953760"/>
          </a:xfrm>
        </p:spPr>
        <p:txBody>
          <a:bodyPr>
            <a:normAutofit/>
          </a:bodyPr>
          <a:lstStyle/>
          <a:p>
            <a:r>
              <a:rPr lang="en-US" b="1" dirty="0" smtClean="0"/>
              <a:t>No Native UI Selectors (Everything is Image-Based)</a:t>
            </a:r>
          </a:p>
          <a:p>
            <a:r>
              <a:rPr lang="en-US" b="1" dirty="0" smtClean="0"/>
              <a:t>Dynamic Screen Resolutions &amp; Scaling Issues</a:t>
            </a:r>
          </a:p>
          <a:p>
            <a:r>
              <a:rPr lang="en-US" b="1" dirty="0" smtClean="0"/>
              <a:t>High Latency &amp; Synchronization Issues</a:t>
            </a:r>
          </a:p>
          <a:p>
            <a:r>
              <a:rPr lang="en-US" b="1" dirty="0" smtClean="0"/>
              <a:t>Clipboard &amp; Text Extraction Issues</a:t>
            </a:r>
          </a:p>
          <a:p>
            <a:r>
              <a:rPr lang="en-US" b="1" dirty="0" smtClean="0"/>
              <a:t>Citrix Login &amp; Credential Management</a:t>
            </a:r>
          </a:p>
          <a:p>
            <a:r>
              <a:rPr lang="en-US" b="1" dirty="0" smtClean="0"/>
              <a:t>Multi-User &amp; Multi-Session Handling</a:t>
            </a:r>
          </a:p>
          <a:p>
            <a:r>
              <a:rPr lang="en-US" b="1" dirty="0" smtClean="0"/>
              <a:t>Error Handling &amp; Debugging Limitations</a:t>
            </a:r>
          </a:p>
          <a:p>
            <a:r>
              <a:rPr lang="en-US" b="1" dirty="0" smtClean="0"/>
              <a:t>Printing &amp; File Transfer Restrictions</a:t>
            </a:r>
          </a:p>
          <a:p>
            <a:r>
              <a:rPr lang="en-US" b="1" dirty="0" smtClean="0"/>
              <a:t>. API-Based Citrix Automation (Advanced RPA)</a:t>
            </a:r>
          </a:p>
          <a:p>
            <a:r>
              <a:rPr lang="en-US" b="1" dirty="0" smtClean="0"/>
              <a:t>Compliance &amp; Logging for Audit Trails</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Best RPA Tools for Citrix Automation</a:t>
            </a:r>
            <a:endParaRPr lang="en-US" dirty="0"/>
          </a:p>
        </p:txBody>
      </p:sp>
      <p:sp>
        <p:nvSpPr>
          <p:cNvPr id="3" name="Content Placeholder 2"/>
          <p:cNvSpPr>
            <a:spLocks noGrp="1"/>
          </p:cNvSpPr>
          <p:nvPr>
            <p:ph idx="1"/>
          </p:nvPr>
        </p:nvSpPr>
        <p:spPr/>
        <p:txBody>
          <a:bodyPr/>
          <a:lstStyle/>
          <a:p>
            <a:r>
              <a:rPr lang="en-US" b="1" dirty="0" smtClean="0"/>
              <a:t>Best for Image-Based Automation: </a:t>
            </a:r>
            <a:r>
              <a:rPr lang="en-US" dirty="0" err="1" smtClean="0"/>
              <a:t>UiPath</a:t>
            </a:r>
            <a:r>
              <a:rPr lang="en-US" dirty="0" smtClean="0"/>
              <a:t>, Automation Anywhere (IQ </a:t>
            </a:r>
            <a:r>
              <a:rPr lang="en-US" dirty="0" err="1" smtClean="0"/>
              <a:t>Bot</a:t>
            </a:r>
            <a:r>
              <a:rPr lang="en-US" dirty="0" smtClean="0"/>
              <a:t>), Blue Prism (Decipher) </a:t>
            </a:r>
          </a:p>
          <a:p>
            <a:r>
              <a:rPr lang="en-US" dirty="0" smtClean="0"/>
              <a:t>💡   B</a:t>
            </a:r>
            <a:r>
              <a:rPr lang="en-US" b="1" dirty="0" smtClean="0"/>
              <a:t>est for API-Based Citrix Integration: </a:t>
            </a:r>
            <a:r>
              <a:rPr lang="en-US" dirty="0" smtClean="0"/>
              <a:t>Power Automate, Blue Prism, </a:t>
            </a:r>
            <a:r>
              <a:rPr lang="en-US" dirty="0" err="1" smtClean="0"/>
              <a:t>UiPath</a:t>
            </a:r>
            <a:r>
              <a:rPr lang="en-US" dirty="0" smtClean="0"/>
              <a:t> with Citrix API </a:t>
            </a:r>
          </a:p>
          <a:p>
            <a:r>
              <a:rPr lang="en-US" dirty="0" smtClean="0"/>
              <a:t>💡   </a:t>
            </a:r>
            <a:r>
              <a:rPr lang="en-US" b="1" dirty="0" smtClean="0"/>
              <a:t>Best for OCR &amp; Computer Vision: </a:t>
            </a:r>
            <a:r>
              <a:rPr lang="en-US" dirty="0" err="1" smtClean="0"/>
              <a:t>UiPath</a:t>
            </a:r>
            <a:r>
              <a:rPr lang="en-US" dirty="0" smtClean="0"/>
              <a:t> (Computer Vision), ABBYY, Google Vision 	OCR</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PDF Automation</a:t>
            </a:r>
            <a:endParaRPr lang="en-US" b="1" dirty="0"/>
          </a:p>
        </p:txBody>
      </p:sp>
      <p:sp>
        <p:nvSpPr>
          <p:cNvPr id="3" name="Content Placeholder 2"/>
          <p:cNvSpPr>
            <a:spLocks noGrp="1"/>
          </p:cNvSpPr>
          <p:nvPr>
            <p:ph idx="1"/>
          </p:nvPr>
        </p:nvSpPr>
        <p:spPr/>
        <p:txBody>
          <a:bodyPr>
            <a:normAutofit/>
          </a:bodyPr>
          <a:lstStyle/>
          <a:p>
            <a:pPr algn="just"/>
            <a:r>
              <a:rPr lang="en-US" dirty="0" smtClean="0"/>
              <a:t>PDF Automation in RPA Tools (</a:t>
            </a:r>
            <a:r>
              <a:rPr lang="en-US" b="1" dirty="0" err="1" smtClean="0"/>
              <a:t>UiPath</a:t>
            </a:r>
            <a:r>
              <a:rPr lang="en-US" b="1" dirty="0" smtClean="0"/>
              <a:t>, </a:t>
            </a:r>
            <a:r>
              <a:rPr lang="en-US" dirty="0" smtClean="0"/>
              <a:t>Blue Prism, Automation Anywhere, Power Automate) </a:t>
            </a:r>
            <a:r>
              <a:rPr lang="en-US" dirty="0" smtClean="0"/>
              <a:t>.</a:t>
            </a:r>
          </a:p>
          <a:p>
            <a:pPr algn="just"/>
            <a:r>
              <a:rPr lang="en-US" dirty="0" smtClean="0"/>
              <a:t>PDF </a:t>
            </a:r>
            <a:r>
              <a:rPr lang="en-US" dirty="0" smtClean="0"/>
              <a:t>automation is a crucial aspect of Robotic Process Automation (RPA), used for extracting, processing, modifying, and managing PDF documents in various industries like banking, healthcare, and finance. </a:t>
            </a:r>
            <a:endParaRPr lang="en-US" dirty="0" smtClean="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PDF Automation Use Cases in RPA</a:t>
            </a:r>
            <a:endParaRPr lang="en-US" dirty="0"/>
          </a:p>
        </p:txBody>
      </p:sp>
      <p:sp>
        <p:nvSpPr>
          <p:cNvPr id="3" name="Content Placeholder 2"/>
          <p:cNvSpPr>
            <a:spLocks noGrp="1"/>
          </p:cNvSpPr>
          <p:nvPr>
            <p:ph idx="1"/>
          </p:nvPr>
        </p:nvSpPr>
        <p:spPr/>
        <p:txBody>
          <a:bodyPr/>
          <a:lstStyle/>
          <a:p>
            <a:r>
              <a:rPr lang="en-US" dirty="0" smtClean="0"/>
              <a:t>✔ </a:t>
            </a:r>
            <a:r>
              <a:rPr lang="en-US" dirty="0" smtClean="0"/>
              <a:t>Extracting data from invoices, reports, forms, and contracts </a:t>
            </a:r>
            <a:endParaRPr lang="en-US" dirty="0" smtClean="0"/>
          </a:p>
          <a:p>
            <a:r>
              <a:rPr lang="en-US" dirty="0" smtClean="0"/>
              <a:t>✔ </a:t>
            </a:r>
            <a:r>
              <a:rPr lang="en-US" dirty="0" smtClean="0"/>
              <a:t>Processing scanned PDFs using OCR </a:t>
            </a:r>
            <a:endParaRPr lang="en-US" dirty="0" smtClean="0"/>
          </a:p>
          <a:p>
            <a:r>
              <a:rPr lang="en-US" dirty="0" smtClean="0"/>
              <a:t>✔ </a:t>
            </a:r>
            <a:r>
              <a:rPr lang="en-US" dirty="0" smtClean="0"/>
              <a:t>Extracting structured data (tables, fields, paragraphs) </a:t>
            </a:r>
            <a:endParaRPr lang="en-US" dirty="0" smtClean="0"/>
          </a:p>
          <a:p>
            <a:r>
              <a:rPr lang="en-US" dirty="0" smtClean="0"/>
              <a:t>✔ </a:t>
            </a:r>
            <a:r>
              <a:rPr lang="en-US" dirty="0" smtClean="0"/>
              <a:t>Merging, splitting, and converting PDFs to different formats </a:t>
            </a:r>
            <a:endParaRPr lang="en-US" dirty="0" smtClean="0"/>
          </a:p>
          <a:p>
            <a:r>
              <a:rPr lang="en-US" dirty="0" smtClean="0"/>
              <a:t>✔ </a:t>
            </a:r>
            <a:r>
              <a:rPr lang="en-US" dirty="0" smtClean="0"/>
              <a:t>Handling password-protected PDFs </a:t>
            </a:r>
            <a:endParaRPr lang="en-US" dirty="0" smtClean="0"/>
          </a:p>
          <a:p>
            <a:r>
              <a:rPr lang="en-US" dirty="0" smtClean="0"/>
              <a:t>✔ </a:t>
            </a:r>
            <a:r>
              <a:rPr lang="en-US" dirty="0" smtClean="0"/>
              <a:t>Automating PDF form filling and signing</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Text from PDFs (Text-Based PDFs)</a:t>
            </a:r>
            <a:endParaRPr lang="en-US" dirty="0"/>
          </a:p>
        </p:txBody>
      </p:sp>
      <p:sp>
        <p:nvSpPr>
          <p:cNvPr id="3" name="Content Placeholder 2"/>
          <p:cNvSpPr>
            <a:spLocks noGrp="1"/>
          </p:cNvSpPr>
          <p:nvPr>
            <p:ph idx="1"/>
          </p:nvPr>
        </p:nvSpPr>
        <p:spPr/>
        <p:txBody>
          <a:bodyPr/>
          <a:lstStyle/>
          <a:p>
            <a:pPr algn="just"/>
            <a:r>
              <a:rPr lang="en-US" dirty="0" smtClean="0"/>
              <a:t> </a:t>
            </a:r>
            <a:r>
              <a:rPr lang="en-US" dirty="0" smtClean="0"/>
              <a:t>Problem: Extracting text from PDFs is easy when the text is selectable (not an image). </a:t>
            </a:r>
            <a:endParaRPr lang="en-US" dirty="0" smtClean="0"/>
          </a:p>
          <a:p>
            <a:pPr algn="just"/>
            <a:r>
              <a:rPr lang="en-US" dirty="0" smtClean="0"/>
              <a:t>✅ </a:t>
            </a:r>
            <a:r>
              <a:rPr lang="en-US" dirty="0" smtClean="0"/>
              <a:t>Solution (RPA Activities</a:t>
            </a:r>
            <a:r>
              <a:rPr lang="en-US" dirty="0" smtClean="0"/>
              <a:t>)</a:t>
            </a:r>
          </a:p>
          <a:p>
            <a:pPr algn="just"/>
            <a:r>
              <a:rPr lang="en-US" dirty="0" smtClean="0"/>
              <a:t> </a:t>
            </a:r>
            <a:r>
              <a:rPr lang="en-US" dirty="0" smtClean="0"/>
              <a:t> </a:t>
            </a:r>
            <a:r>
              <a:rPr lang="en-US" dirty="0" err="1" smtClean="0"/>
              <a:t>UiPath</a:t>
            </a:r>
            <a:r>
              <a:rPr lang="en-US" dirty="0" smtClean="0"/>
              <a:t>: Read PDF Text activity </a:t>
            </a:r>
            <a:endParaRPr lang="en-US" dirty="0" smtClean="0"/>
          </a:p>
          <a:p>
            <a:endParaRPr lang="en-US" dirty="0" smtClean="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Text from Scanned PDFs (OCR-Based PDFs)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Scanned PDFs contain images, requiring OCR for text extraction. </a:t>
            </a:r>
            <a:endParaRPr lang="en-US" dirty="0" smtClean="0"/>
          </a:p>
          <a:p>
            <a:r>
              <a:rPr lang="en-US" dirty="0" smtClean="0"/>
              <a:t>✅ </a:t>
            </a:r>
            <a:r>
              <a:rPr lang="en-US" dirty="0" smtClean="0"/>
              <a:t>Solution (OCR-Based RPA Activities) </a:t>
            </a:r>
            <a:endParaRPr lang="en-US" dirty="0" smtClean="0"/>
          </a:p>
          <a:p>
            <a:r>
              <a:rPr lang="en-US" dirty="0" err="1" smtClean="0"/>
              <a:t>UiPath</a:t>
            </a:r>
            <a:r>
              <a:rPr lang="en-US" dirty="0" smtClean="0"/>
              <a:t>: Read PDF with OCR (</a:t>
            </a:r>
            <a:r>
              <a:rPr lang="en-US" dirty="0" err="1" smtClean="0"/>
              <a:t>Tesseract</a:t>
            </a:r>
            <a:r>
              <a:rPr lang="en-US" dirty="0" smtClean="0"/>
              <a:t>, Google OCR, Microsoft OCR, ABBYY)</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Tables from PDFs</a:t>
            </a:r>
            <a:endParaRPr lang="en-US" dirty="0"/>
          </a:p>
        </p:txBody>
      </p:sp>
      <p:sp>
        <p:nvSpPr>
          <p:cNvPr id="3" name="Content Placeholder 2"/>
          <p:cNvSpPr>
            <a:spLocks noGrp="1"/>
          </p:cNvSpPr>
          <p:nvPr>
            <p:ph idx="1"/>
          </p:nvPr>
        </p:nvSpPr>
        <p:spPr/>
        <p:txBody>
          <a:bodyPr/>
          <a:lstStyle/>
          <a:p>
            <a:r>
              <a:rPr lang="en-US" dirty="0" smtClean="0"/>
              <a:t>  </a:t>
            </a:r>
            <a:r>
              <a:rPr lang="en-US" dirty="0" smtClean="0"/>
              <a:t>Problem: Extracting structured data like tables is difficult using simple text extraction</a:t>
            </a:r>
            <a:r>
              <a:rPr lang="en-US" dirty="0" smtClean="0"/>
              <a:t>.</a:t>
            </a:r>
          </a:p>
          <a:p>
            <a:r>
              <a:rPr lang="en-US" dirty="0" smtClean="0"/>
              <a:t> </a:t>
            </a:r>
            <a:r>
              <a:rPr lang="en-US" dirty="0" smtClean="0"/>
              <a:t>✅ Solution (AI-Based Table Extraction) </a:t>
            </a:r>
            <a:endParaRPr lang="en-US" dirty="0" smtClean="0"/>
          </a:p>
          <a:p>
            <a:r>
              <a:rPr lang="en-US" dirty="0" smtClean="0"/>
              <a:t> </a:t>
            </a:r>
            <a:r>
              <a:rPr lang="en-US" dirty="0" err="1" smtClean="0"/>
              <a:t>UiPath</a:t>
            </a:r>
            <a:r>
              <a:rPr lang="en-US" dirty="0" smtClean="0"/>
              <a:t>: Extract Tables from PDF (Document Understanding)</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Data from PDF Forms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Interactive PDF forms contain structured fields that standard RPA activities cannot read. </a:t>
            </a:r>
            <a:endParaRPr lang="en-US" dirty="0" smtClean="0"/>
          </a:p>
          <a:p>
            <a:r>
              <a:rPr lang="en-US" dirty="0" smtClean="0"/>
              <a:t>✅ </a:t>
            </a:r>
            <a:r>
              <a:rPr lang="en-US" dirty="0" smtClean="0"/>
              <a:t>Solution (Form Field Extraction</a:t>
            </a:r>
            <a:r>
              <a:rPr lang="en-US" dirty="0" smtClean="0"/>
              <a:t>)</a:t>
            </a:r>
          </a:p>
          <a:p>
            <a:r>
              <a:rPr lang="en-US" dirty="0" smtClean="0"/>
              <a:t> </a:t>
            </a:r>
            <a:r>
              <a:rPr lang="en-US" dirty="0" err="1" smtClean="0"/>
              <a:t>UiPath</a:t>
            </a:r>
            <a:r>
              <a:rPr lang="en-US" dirty="0" smtClean="0"/>
              <a:t>: Extract Form Fields activity</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a:t>
            </a:r>
            <a:r>
              <a:rPr lang="en-US" dirty="0" smtClean="0"/>
              <a:t>Merging</a:t>
            </a:r>
            <a:r>
              <a:rPr lang="en-US" dirty="0" smtClean="0"/>
              <a:t>, Splitting, &amp; Converting PDFs</a:t>
            </a:r>
            <a:endParaRPr lang="en-US" dirty="0"/>
          </a:p>
        </p:txBody>
      </p:sp>
      <p:sp>
        <p:nvSpPr>
          <p:cNvPr id="3" name="Content Placeholder 2"/>
          <p:cNvSpPr>
            <a:spLocks noGrp="1"/>
          </p:cNvSpPr>
          <p:nvPr>
            <p:ph idx="1"/>
          </p:nvPr>
        </p:nvSpPr>
        <p:spPr>
          <a:xfrm>
            <a:off x="838200" y="1825624"/>
            <a:ext cx="10515600" cy="4585335"/>
          </a:xfrm>
        </p:spPr>
        <p:txBody>
          <a:bodyPr>
            <a:normAutofit/>
          </a:bodyPr>
          <a:lstStyle/>
          <a:p>
            <a:r>
              <a:rPr lang="en-US" dirty="0" smtClean="0"/>
              <a:t>Problem</a:t>
            </a:r>
            <a:r>
              <a:rPr lang="en-US" dirty="0" smtClean="0"/>
              <a:t>: Businesses need to merge multiple PDFs, split pages, or convert PDFs into other formats. </a:t>
            </a:r>
            <a:endParaRPr lang="en-US" dirty="0" smtClean="0"/>
          </a:p>
          <a:p>
            <a:r>
              <a:rPr lang="en-US" dirty="0" smtClean="0"/>
              <a:t>✅ </a:t>
            </a:r>
            <a:r>
              <a:rPr lang="en-US" dirty="0" smtClean="0"/>
              <a:t>Solution (RPA Activities) </a:t>
            </a:r>
            <a:endParaRPr lang="en-US" dirty="0" smtClean="0"/>
          </a:p>
          <a:p>
            <a:r>
              <a:rPr lang="en-US" dirty="0" smtClean="0"/>
              <a:t> </a:t>
            </a:r>
            <a:r>
              <a:rPr lang="en-US" b="1" dirty="0" smtClean="0"/>
              <a:t>Merging PDFs: </a:t>
            </a:r>
            <a:endParaRPr lang="en-US" b="1" dirty="0" smtClean="0"/>
          </a:p>
          <a:p>
            <a:r>
              <a:rPr lang="en-US" dirty="0" smtClean="0"/>
              <a:t>o </a:t>
            </a:r>
            <a:r>
              <a:rPr lang="en-US" dirty="0" err="1" smtClean="0"/>
              <a:t>UiPath</a:t>
            </a:r>
            <a:r>
              <a:rPr lang="en-US" dirty="0" smtClean="0"/>
              <a:t>: Merge PDF </a:t>
            </a:r>
            <a:r>
              <a:rPr lang="en-US" dirty="0" smtClean="0"/>
              <a:t>activity</a:t>
            </a:r>
          </a:p>
          <a:p>
            <a:r>
              <a:rPr lang="en-US" b="1" dirty="0" smtClean="0"/>
              <a:t>Splitting PDFs: </a:t>
            </a:r>
            <a:endParaRPr lang="en-US" b="1" dirty="0" smtClean="0"/>
          </a:p>
          <a:p>
            <a:r>
              <a:rPr lang="en-US" dirty="0" smtClean="0"/>
              <a:t>o </a:t>
            </a:r>
            <a:r>
              <a:rPr lang="en-US" dirty="0" err="1" smtClean="0"/>
              <a:t>UiPath</a:t>
            </a:r>
            <a:r>
              <a:rPr lang="en-US" dirty="0" smtClean="0"/>
              <a:t>: Split PDF </a:t>
            </a:r>
            <a:r>
              <a:rPr lang="en-US" dirty="0" smtClean="0"/>
              <a:t>activity</a:t>
            </a:r>
          </a:p>
          <a:p>
            <a:r>
              <a:rPr lang="en-US" b="1" dirty="0" smtClean="0"/>
              <a:t>Converting PDFs to Word/Excel: </a:t>
            </a:r>
            <a:endParaRPr lang="en-US" b="1" dirty="0" smtClean="0"/>
          </a:p>
          <a:p>
            <a:r>
              <a:rPr lang="en-US" dirty="0" smtClean="0"/>
              <a:t>o </a:t>
            </a:r>
            <a:r>
              <a:rPr lang="en-US" dirty="0" err="1" smtClean="0"/>
              <a:t>UiPath</a:t>
            </a:r>
            <a:r>
              <a:rPr lang="en-US" dirty="0" smtClean="0"/>
              <a:t>: Export PDF to Excel or Export PDF to Word</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Password-Protected PDFs</a:t>
            </a:r>
            <a:endParaRPr lang="en-US" dirty="0"/>
          </a:p>
        </p:txBody>
      </p:sp>
      <p:sp>
        <p:nvSpPr>
          <p:cNvPr id="3" name="Content Placeholder 2"/>
          <p:cNvSpPr>
            <a:spLocks noGrp="1"/>
          </p:cNvSpPr>
          <p:nvPr>
            <p:ph idx="1"/>
          </p:nvPr>
        </p:nvSpPr>
        <p:spPr/>
        <p:txBody>
          <a:bodyPr/>
          <a:lstStyle/>
          <a:p>
            <a:r>
              <a:rPr lang="en-US" dirty="0" smtClean="0"/>
              <a:t> </a:t>
            </a:r>
            <a:r>
              <a:rPr lang="en-US" dirty="0" smtClean="0"/>
              <a:t>Problem: Some PDFs are encrypted, requiring decryption before automation. </a:t>
            </a:r>
            <a:endParaRPr lang="en-US" dirty="0" smtClean="0"/>
          </a:p>
          <a:p>
            <a:r>
              <a:rPr lang="en-US" dirty="0" smtClean="0"/>
              <a:t>✅ </a:t>
            </a:r>
            <a:r>
              <a:rPr lang="en-US" dirty="0" smtClean="0"/>
              <a:t>Solution (RPA Activities) </a:t>
            </a:r>
            <a:endParaRPr lang="en-US" dirty="0" smtClean="0"/>
          </a:p>
          <a:p>
            <a:r>
              <a:rPr lang="en-US" dirty="0" smtClean="0"/>
              <a:t> </a:t>
            </a:r>
            <a:r>
              <a:rPr lang="en-US" dirty="0" err="1" smtClean="0"/>
              <a:t>UiPath</a:t>
            </a:r>
            <a:r>
              <a:rPr lang="en-US" dirty="0" smtClean="0"/>
              <a:t>: Decrypt PDF activity</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Digitally Signing PDFs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Many businesses require RPA to add digital signatures to PDFs. </a:t>
            </a:r>
            <a:endParaRPr lang="en-US" dirty="0" smtClean="0"/>
          </a:p>
          <a:p>
            <a:r>
              <a:rPr lang="en-US" dirty="0" smtClean="0"/>
              <a:t>✅ </a:t>
            </a:r>
            <a:r>
              <a:rPr lang="en-US" dirty="0" smtClean="0"/>
              <a:t>Solution (RPA Activities) </a:t>
            </a:r>
            <a:endParaRPr lang="en-US" dirty="0" smtClean="0"/>
          </a:p>
          <a:p>
            <a:r>
              <a:rPr lang="en-US" dirty="0" smtClean="0"/>
              <a:t> </a:t>
            </a:r>
            <a:r>
              <a:rPr lang="en-US" dirty="0" err="1" smtClean="0"/>
              <a:t>UiPath</a:t>
            </a:r>
            <a:r>
              <a:rPr lang="en-US" dirty="0" smtClean="0"/>
              <a:t>: Sign PDF activity</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 Integration &amp; Excel Automation:</a:t>
            </a:r>
            <a:endParaRPr lang="en-US" b="1" dirty="0"/>
          </a:p>
        </p:txBody>
      </p:sp>
      <p:sp>
        <p:nvSpPr>
          <p:cNvPr id="3" name="Content Placeholder 2"/>
          <p:cNvSpPr>
            <a:spLocks noGrp="1"/>
          </p:cNvSpPr>
          <p:nvPr>
            <p:ph idx="1"/>
          </p:nvPr>
        </p:nvSpPr>
        <p:spPr/>
        <p:txBody>
          <a:bodyPr/>
          <a:lstStyle/>
          <a:p>
            <a:r>
              <a:rPr lang="en-US" dirty="0" smtClean="0"/>
              <a:t>App Integration &amp; Excel Automation in RPA Tools (</a:t>
            </a:r>
            <a:r>
              <a:rPr lang="en-US" dirty="0" err="1" smtClean="0"/>
              <a:t>UiPath</a:t>
            </a:r>
            <a:r>
              <a:rPr lang="en-US" dirty="0" smtClean="0"/>
              <a:t>, Blue Prism, Automation Anywhere, Power Automate) </a:t>
            </a:r>
            <a:endParaRPr lang="en-US" dirty="0" smtClean="0"/>
          </a:p>
          <a:p>
            <a:r>
              <a:rPr lang="en-US" dirty="0" smtClean="0"/>
              <a:t>App </a:t>
            </a:r>
            <a:r>
              <a:rPr lang="en-US" dirty="0" smtClean="0"/>
              <a:t>integration and Excel automation are critical components of Robotic Process Automation (RPA), </a:t>
            </a:r>
            <a:endParaRPr lang="en-US" dirty="0" smtClean="0"/>
          </a:p>
          <a:p>
            <a:r>
              <a:rPr lang="en-US" dirty="0" smtClean="0"/>
              <a:t>Enabling flawless </a:t>
            </a:r>
            <a:r>
              <a:rPr lang="en-US" dirty="0" smtClean="0"/>
              <a:t>data transfer between applications, databases, web services, and spreadsheets</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Integration in RPA</a:t>
            </a:r>
            <a:endParaRPr lang="en-US" dirty="0"/>
          </a:p>
        </p:txBody>
      </p:sp>
      <p:sp>
        <p:nvSpPr>
          <p:cNvPr id="3" name="Content Placeholder 2"/>
          <p:cNvSpPr>
            <a:spLocks noGrp="1"/>
          </p:cNvSpPr>
          <p:nvPr>
            <p:ph idx="1"/>
          </p:nvPr>
        </p:nvSpPr>
        <p:spPr/>
        <p:txBody>
          <a:bodyPr/>
          <a:lstStyle/>
          <a:p>
            <a:r>
              <a:rPr lang="en-US" dirty="0" smtClean="0"/>
              <a:t>What </a:t>
            </a:r>
            <a:r>
              <a:rPr lang="en-US" dirty="0" smtClean="0"/>
              <a:t>is App Integration? </a:t>
            </a:r>
            <a:endParaRPr lang="en-US" dirty="0" smtClean="0"/>
          </a:p>
          <a:p>
            <a:r>
              <a:rPr lang="en-US" dirty="0" smtClean="0"/>
              <a:t>App </a:t>
            </a:r>
            <a:r>
              <a:rPr lang="en-US" dirty="0" smtClean="0"/>
              <a:t>integration in RPA allows robots to communicate between different applications— whether cloud-based, desktop-based, or web-based—without human intervention. </a:t>
            </a:r>
            <a:endParaRPr lang="en-US" dirty="0" smtClean="0"/>
          </a:p>
          <a:p>
            <a:pPr>
              <a:buNone/>
            </a:pP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Use Cases</a:t>
            </a:r>
            <a:endParaRPr lang="en-US" dirty="0"/>
          </a:p>
        </p:txBody>
      </p:sp>
      <p:sp>
        <p:nvSpPr>
          <p:cNvPr id="3" name="Content Placeholder 2"/>
          <p:cNvSpPr>
            <a:spLocks noGrp="1"/>
          </p:cNvSpPr>
          <p:nvPr>
            <p:ph idx="1"/>
          </p:nvPr>
        </p:nvSpPr>
        <p:spPr/>
        <p:txBody>
          <a:bodyPr/>
          <a:lstStyle/>
          <a:p>
            <a:pPr algn="just"/>
            <a:r>
              <a:rPr lang="en-US" dirty="0" smtClean="0"/>
              <a:t>✔ </a:t>
            </a:r>
            <a:r>
              <a:rPr lang="en-US" dirty="0" smtClean="0"/>
              <a:t>Data synchronization between CRM (</a:t>
            </a:r>
            <a:r>
              <a:rPr lang="en-US" dirty="0" err="1" smtClean="0"/>
              <a:t>Salesforce</a:t>
            </a:r>
            <a:r>
              <a:rPr lang="en-US" dirty="0" smtClean="0"/>
              <a:t>, SAP) and Excel </a:t>
            </a:r>
            <a:endParaRPr lang="en-US" dirty="0" smtClean="0"/>
          </a:p>
          <a:p>
            <a:pPr algn="just"/>
            <a:r>
              <a:rPr lang="en-US" dirty="0" smtClean="0"/>
              <a:t>✔ </a:t>
            </a:r>
            <a:r>
              <a:rPr lang="en-US" dirty="0" smtClean="0"/>
              <a:t>Automating email attachments to databases (Outlook, Gmail, SQL) ✔ Extracting data from web apps (API calls, UI automation) </a:t>
            </a:r>
            <a:endParaRPr lang="en-US" dirty="0" smtClean="0"/>
          </a:p>
          <a:p>
            <a:pPr algn="just"/>
            <a:r>
              <a:rPr lang="en-US" dirty="0" smtClean="0"/>
              <a:t>✔ </a:t>
            </a:r>
            <a:r>
              <a:rPr lang="en-US" dirty="0" smtClean="0"/>
              <a:t>ERP automation (SAP, Oracle, Microsoft Dynamics) </a:t>
            </a:r>
            <a:endParaRPr lang="en-US" dirty="0" smtClean="0"/>
          </a:p>
          <a:p>
            <a:pPr algn="just"/>
            <a:r>
              <a:rPr lang="en-US" dirty="0" smtClean="0"/>
              <a:t>✔ </a:t>
            </a:r>
            <a:r>
              <a:rPr lang="en-US" dirty="0" smtClean="0"/>
              <a:t>Triggering workflows from webhooks and REST APIs</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Excel Automation in RPA</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 </a:t>
            </a:r>
            <a:r>
              <a:rPr lang="en-US" dirty="0" smtClean="0"/>
              <a:t>Why Automate Excel? </a:t>
            </a:r>
            <a:endParaRPr lang="en-US" dirty="0" smtClean="0"/>
          </a:p>
          <a:p>
            <a:pPr algn="just"/>
            <a:r>
              <a:rPr lang="en-US" dirty="0" smtClean="0"/>
              <a:t>Excel </a:t>
            </a:r>
            <a:r>
              <a:rPr lang="en-US" dirty="0" smtClean="0"/>
              <a:t>is widely used for data storage, calculations, and reporting, but manual handling can be time-consuming and error-prone. </a:t>
            </a:r>
            <a:endParaRPr lang="en-US" dirty="0" smtClean="0"/>
          </a:p>
          <a:p>
            <a:pPr algn="just"/>
            <a:r>
              <a:rPr lang="en-US" dirty="0" smtClean="0"/>
              <a:t> </a:t>
            </a:r>
            <a:r>
              <a:rPr lang="en-US" dirty="0" smtClean="0"/>
              <a:t>Common Excel Automation Tasks </a:t>
            </a:r>
            <a:endParaRPr lang="en-US" dirty="0" smtClean="0"/>
          </a:p>
          <a:p>
            <a:pPr algn="just"/>
            <a:r>
              <a:rPr lang="en-US" dirty="0" smtClean="0"/>
              <a:t>✔ </a:t>
            </a:r>
            <a:r>
              <a:rPr lang="en-US" dirty="0" smtClean="0"/>
              <a:t>Reading &amp; writing data in Excel </a:t>
            </a:r>
            <a:endParaRPr lang="en-US" dirty="0" smtClean="0"/>
          </a:p>
          <a:p>
            <a:pPr algn="just"/>
            <a:r>
              <a:rPr lang="en-US" dirty="0" smtClean="0"/>
              <a:t>✔ </a:t>
            </a:r>
            <a:r>
              <a:rPr lang="en-US" dirty="0" smtClean="0"/>
              <a:t>Data validation, filtering, and formatting </a:t>
            </a:r>
            <a:endParaRPr lang="en-US" dirty="0" smtClean="0"/>
          </a:p>
          <a:p>
            <a:pPr algn="just"/>
            <a:r>
              <a:rPr lang="en-US" dirty="0" smtClean="0"/>
              <a:t>✔ </a:t>
            </a:r>
            <a:r>
              <a:rPr lang="en-US" dirty="0" smtClean="0"/>
              <a:t>Generating reports and charts automatically </a:t>
            </a:r>
            <a:endParaRPr lang="en-US" dirty="0" smtClean="0"/>
          </a:p>
          <a:p>
            <a:pPr algn="just"/>
            <a:r>
              <a:rPr lang="en-US" dirty="0" smtClean="0"/>
              <a:t>✔ </a:t>
            </a:r>
            <a:r>
              <a:rPr lang="en-US" dirty="0" smtClean="0"/>
              <a:t>Performing calculations using formulas and macros </a:t>
            </a:r>
            <a:endParaRPr lang="en-US" dirty="0" smtClean="0"/>
          </a:p>
          <a:p>
            <a:pPr algn="just"/>
            <a:r>
              <a:rPr lang="en-US" dirty="0" smtClean="0"/>
              <a:t>✔ </a:t>
            </a:r>
            <a:r>
              <a:rPr lang="en-US" dirty="0" smtClean="0"/>
              <a:t>Converting Excel to other formats (CSV, PDF, JSON)</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Integration Methods in RPA</a:t>
            </a:r>
            <a:endParaRPr lang="en-US" dirty="0"/>
          </a:p>
        </p:txBody>
      </p:sp>
      <p:sp>
        <p:nvSpPr>
          <p:cNvPr id="3" name="Content Placeholder 2"/>
          <p:cNvSpPr>
            <a:spLocks noGrp="1"/>
          </p:cNvSpPr>
          <p:nvPr>
            <p:ph idx="1"/>
          </p:nvPr>
        </p:nvSpPr>
        <p:spPr/>
        <p:txBody>
          <a:bodyPr>
            <a:normAutofit/>
          </a:bodyPr>
          <a:lstStyle/>
          <a:p>
            <a:r>
              <a:rPr lang="en-US" sz="1800" b="1" dirty="0" smtClean="0"/>
              <a:t>Integration Type 	</a:t>
            </a:r>
            <a:r>
              <a:rPr lang="en-US" sz="1800" dirty="0" smtClean="0"/>
              <a:t>		</a:t>
            </a:r>
            <a:r>
              <a:rPr lang="en-US" sz="1800" b="1" dirty="0" smtClean="0"/>
              <a:t>Examples</a:t>
            </a:r>
            <a:r>
              <a:rPr lang="en-US" sz="1800" b="1" dirty="0" smtClean="0"/>
              <a:t> </a:t>
            </a:r>
            <a:r>
              <a:rPr lang="en-US" sz="1800" dirty="0" smtClean="0"/>
              <a:t>			</a:t>
            </a:r>
            <a:r>
              <a:rPr lang="en-US" sz="1800" b="1" dirty="0" smtClean="0"/>
              <a:t>RPA </a:t>
            </a:r>
            <a:r>
              <a:rPr lang="en-US" sz="1800" b="1" dirty="0" smtClean="0"/>
              <a:t>Approach </a:t>
            </a:r>
            <a:endParaRPr lang="en-US" sz="1800" b="1" dirty="0" smtClean="0"/>
          </a:p>
          <a:p>
            <a:r>
              <a:rPr lang="en-US" sz="1800" dirty="0" smtClean="0"/>
              <a:t>Direct </a:t>
            </a:r>
            <a:r>
              <a:rPr lang="en-US" sz="1800" dirty="0" smtClean="0"/>
              <a:t>API Integration </a:t>
            </a:r>
            <a:r>
              <a:rPr lang="en-US" sz="1800" dirty="0" smtClean="0"/>
              <a:t>		</a:t>
            </a:r>
            <a:r>
              <a:rPr lang="en-US" sz="1800" dirty="0" err="1" smtClean="0"/>
              <a:t>Salesforce</a:t>
            </a:r>
            <a:r>
              <a:rPr lang="en-US" sz="1800" dirty="0" smtClean="0"/>
              <a:t>, </a:t>
            </a:r>
            <a:r>
              <a:rPr lang="en-US" sz="1800" dirty="0" smtClean="0"/>
              <a:t>SAP, Google Sheets </a:t>
            </a:r>
            <a:r>
              <a:rPr lang="en-US" sz="1800" dirty="0" smtClean="0"/>
              <a:t>	</a:t>
            </a:r>
            <a:r>
              <a:rPr lang="en-US" sz="1800" dirty="0" smtClean="0"/>
              <a:t> REST API calls </a:t>
            </a:r>
            <a:endParaRPr lang="en-US" sz="1800" dirty="0" smtClean="0"/>
          </a:p>
          <a:p>
            <a:r>
              <a:rPr lang="en-US" sz="1800" dirty="0" smtClean="0"/>
              <a:t>Database </a:t>
            </a:r>
            <a:r>
              <a:rPr lang="en-US" sz="1800" dirty="0" smtClean="0"/>
              <a:t>Integration </a:t>
            </a:r>
            <a:r>
              <a:rPr lang="en-US" sz="1800" dirty="0" smtClean="0"/>
              <a:t>		SQL</a:t>
            </a:r>
            <a:r>
              <a:rPr lang="en-US" sz="1800" dirty="0" smtClean="0"/>
              <a:t>, Oracle, </a:t>
            </a:r>
            <a:r>
              <a:rPr lang="en-US" sz="1800" dirty="0" err="1" smtClean="0"/>
              <a:t>MySQL</a:t>
            </a:r>
            <a:r>
              <a:rPr lang="en-US" sz="1800" dirty="0" smtClean="0"/>
              <a:t> </a:t>
            </a:r>
            <a:r>
              <a:rPr lang="en-US" sz="1800" dirty="0" smtClean="0"/>
              <a:t>		Database </a:t>
            </a:r>
            <a:r>
              <a:rPr lang="en-US" sz="1800" dirty="0" smtClean="0"/>
              <a:t>activities </a:t>
            </a:r>
            <a:endParaRPr lang="en-US" sz="1800" dirty="0" smtClean="0"/>
          </a:p>
          <a:p>
            <a:r>
              <a:rPr lang="en-US" sz="1800" dirty="0" smtClean="0"/>
              <a:t>Web </a:t>
            </a:r>
            <a:r>
              <a:rPr lang="en-US" sz="1800" dirty="0" smtClean="0"/>
              <a:t>Scraping </a:t>
            </a:r>
            <a:r>
              <a:rPr lang="en-US" sz="1800" dirty="0" smtClean="0"/>
              <a:t>			Web </a:t>
            </a:r>
            <a:r>
              <a:rPr lang="en-US" sz="1800" dirty="0" smtClean="0"/>
              <a:t>applications, reports </a:t>
            </a:r>
            <a:r>
              <a:rPr lang="en-US" sz="1800" dirty="0" smtClean="0"/>
              <a:t>	UI </a:t>
            </a:r>
            <a:r>
              <a:rPr lang="en-US" sz="1800" dirty="0" smtClean="0"/>
              <a:t>automation (selectors, data extraction) </a:t>
            </a:r>
            <a:endParaRPr lang="en-US" sz="1800" dirty="0" smtClean="0"/>
          </a:p>
          <a:p>
            <a:r>
              <a:rPr lang="en-US" sz="1800" dirty="0" smtClean="0"/>
              <a:t>Desktop </a:t>
            </a:r>
            <a:r>
              <a:rPr lang="en-US" sz="1800" dirty="0" smtClean="0"/>
              <a:t>Application </a:t>
            </a:r>
            <a:r>
              <a:rPr lang="en-US" sz="1800" dirty="0" smtClean="0"/>
              <a:t>Automation    Excel</a:t>
            </a:r>
            <a:r>
              <a:rPr lang="en-US" sz="1800" dirty="0" smtClean="0"/>
              <a:t>, Notepad, SAP, Citrix </a:t>
            </a:r>
            <a:r>
              <a:rPr lang="en-US" sz="1800" dirty="0" smtClean="0"/>
              <a:t>	UI </a:t>
            </a:r>
            <a:r>
              <a:rPr lang="en-US" sz="1800" dirty="0" smtClean="0"/>
              <a:t>automation (keyboard, OCR, hotkeys)</a:t>
            </a:r>
            <a:endParaRPr lang="en-US" sz="1800" dirty="0" smtClean="0"/>
          </a:p>
          <a:p>
            <a:r>
              <a:rPr lang="en-US" sz="1800" dirty="0" smtClean="0"/>
              <a:t>File-Based Integration       CSV</a:t>
            </a:r>
            <a:r>
              <a:rPr lang="en-US" sz="1800" dirty="0" smtClean="0"/>
              <a:t>, XML, JSON, </a:t>
            </a:r>
            <a:r>
              <a:rPr lang="en-US" sz="1800" dirty="0" smtClean="0"/>
              <a:t>PDF</a:t>
            </a:r>
            <a:r>
              <a:rPr lang="en-US" sz="1800" dirty="0" smtClean="0"/>
              <a:t>  </a:t>
            </a:r>
            <a:r>
              <a:rPr lang="en-US" sz="1800" dirty="0" smtClean="0"/>
              <a:t>				File handling</a:t>
            </a:r>
            <a:endParaRPr lang="en-US" sz="1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Excel Automation Methods in RPA</a:t>
            </a:r>
            <a:endParaRPr lang="en-US" dirty="0"/>
          </a:p>
        </p:txBody>
      </p:sp>
      <p:sp>
        <p:nvSpPr>
          <p:cNvPr id="3" name="Content Placeholder 2"/>
          <p:cNvSpPr>
            <a:spLocks noGrp="1"/>
          </p:cNvSpPr>
          <p:nvPr>
            <p:ph idx="1"/>
          </p:nvPr>
        </p:nvSpPr>
        <p:spPr/>
        <p:txBody>
          <a:bodyPr/>
          <a:lstStyle/>
          <a:p>
            <a:r>
              <a:rPr lang="en-US" dirty="0" smtClean="0"/>
              <a:t>Reading </a:t>
            </a:r>
            <a:r>
              <a:rPr lang="en-US" dirty="0" smtClean="0"/>
              <a:t>&amp; Writing Data in </a:t>
            </a:r>
            <a:r>
              <a:rPr lang="en-US" dirty="0" smtClean="0"/>
              <a:t>Excel</a:t>
            </a:r>
          </a:p>
          <a:p>
            <a:r>
              <a:rPr lang="en-US" dirty="0" smtClean="0"/>
              <a:t>  </a:t>
            </a:r>
            <a:r>
              <a:rPr lang="en-US" dirty="0" smtClean="0"/>
              <a:t>Problem: Manual data entry into Excel is slow and prone to errors. ✅ Solution: Use built-in RPA Excel activities</a:t>
            </a:r>
            <a:r>
              <a:rPr lang="en-US" dirty="0" smtClean="0"/>
              <a:t>.</a:t>
            </a:r>
          </a:p>
          <a:p>
            <a:r>
              <a:rPr lang="en-US" dirty="0" smtClean="0"/>
              <a:t> </a:t>
            </a:r>
            <a:r>
              <a:rPr lang="en-US" dirty="0" err="1" smtClean="0"/>
              <a:t>UiPath</a:t>
            </a:r>
            <a:r>
              <a:rPr lang="en-US" dirty="0" smtClean="0"/>
              <a:t>: Read Range, Write Range, Append Range</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Excel Data Filtering &amp; Sorting</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Extract specific data dynamically from Excel. </a:t>
            </a:r>
            <a:endParaRPr lang="en-US" dirty="0" smtClean="0"/>
          </a:p>
          <a:p>
            <a:r>
              <a:rPr lang="en-US" dirty="0" smtClean="0"/>
              <a:t>✅ </a:t>
            </a:r>
            <a:r>
              <a:rPr lang="en-US" dirty="0" smtClean="0"/>
              <a:t>Solution: Use filtering and sorting functions</a:t>
            </a:r>
            <a:r>
              <a:rPr lang="en-US" dirty="0" smtClean="0"/>
              <a:t>.</a:t>
            </a:r>
          </a:p>
          <a:p>
            <a:r>
              <a:rPr lang="en-US" dirty="0" err="1" smtClean="0"/>
              <a:t>UiPath</a:t>
            </a:r>
            <a:r>
              <a:rPr lang="en-US" dirty="0" smtClean="0"/>
              <a:t>: Filter Data Table activity</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Automating Excel Formulas &amp; Macros</a:t>
            </a:r>
            <a:endParaRPr lang="en-US" dirty="0"/>
          </a:p>
        </p:txBody>
      </p:sp>
      <p:sp>
        <p:nvSpPr>
          <p:cNvPr id="3" name="Content Placeholder 2"/>
          <p:cNvSpPr>
            <a:spLocks noGrp="1"/>
          </p:cNvSpPr>
          <p:nvPr>
            <p:ph idx="1"/>
          </p:nvPr>
        </p:nvSpPr>
        <p:spPr/>
        <p:txBody>
          <a:bodyPr/>
          <a:lstStyle/>
          <a:p>
            <a:r>
              <a:rPr lang="en-US" dirty="0" smtClean="0"/>
              <a:t> </a:t>
            </a:r>
            <a:r>
              <a:rPr lang="en-US" dirty="0" smtClean="0"/>
              <a:t>Problem: RPA bots need to apply formulas and execute macros automatically. </a:t>
            </a:r>
            <a:endParaRPr lang="en-US" dirty="0" smtClean="0"/>
          </a:p>
          <a:p>
            <a:r>
              <a:rPr lang="en-US" dirty="0" smtClean="0"/>
              <a:t>✅ </a:t>
            </a:r>
            <a:r>
              <a:rPr lang="en-US" dirty="0" smtClean="0"/>
              <a:t>Solution: Use RPA activities to insert formulas &amp; run macros. </a:t>
            </a:r>
            <a:endParaRPr lang="en-US" dirty="0" smtClean="0"/>
          </a:p>
          <a:p>
            <a:r>
              <a:rPr lang="en-US" dirty="0" smtClean="0"/>
              <a:t> </a:t>
            </a:r>
            <a:r>
              <a:rPr lang="en-US" dirty="0" err="1" smtClean="0"/>
              <a:t>UiPath</a:t>
            </a:r>
            <a:r>
              <a:rPr lang="en-US" dirty="0" smtClean="0"/>
              <a:t>: Execute Macro activity</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Generating Reports &amp; Charts in Excel</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Automating the creation of Excel dashboards and reports. </a:t>
            </a:r>
            <a:endParaRPr lang="en-US" dirty="0" smtClean="0"/>
          </a:p>
          <a:p>
            <a:r>
              <a:rPr lang="en-US" dirty="0" smtClean="0"/>
              <a:t>✅ </a:t>
            </a:r>
            <a:r>
              <a:rPr lang="en-US" dirty="0" smtClean="0"/>
              <a:t>Solution: Use RPA to generate reports with charts and pivot tables</a:t>
            </a:r>
            <a:r>
              <a:rPr lang="en-US" dirty="0" smtClean="0"/>
              <a:t>.</a:t>
            </a:r>
          </a:p>
          <a:p>
            <a:r>
              <a:rPr lang="en-US" dirty="0" smtClean="0"/>
              <a:t> </a:t>
            </a:r>
            <a:r>
              <a:rPr lang="en-US" dirty="0" err="1" smtClean="0"/>
              <a:t>UiPath</a:t>
            </a:r>
            <a:r>
              <a:rPr lang="en-US" dirty="0" smtClean="0"/>
              <a:t>: Generate Data Table, Create Pivot Table</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Converting Excel to CSV, JSON, or PDF</a:t>
            </a:r>
            <a:endParaRPr lang="en-US" dirty="0"/>
          </a:p>
        </p:txBody>
      </p:sp>
      <p:sp>
        <p:nvSpPr>
          <p:cNvPr id="3" name="Content Placeholder 2"/>
          <p:cNvSpPr>
            <a:spLocks noGrp="1"/>
          </p:cNvSpPr>
          <p:nvPr>
            <p:ph idx="1"/>
          </p:nvPr>
        </p:nvSpPr>
        <p:spPr/>
        <p:txBody>
          <a:bodyPr/>
          <a:lstStyle/>
          <a:p>
            <a:pPr algn="just"/>
            <a:r>
              <a:rPr lang="en-US" dirty="0" smtClean="0"/>
              <a:t>Problem</a:t>
            </a:r>
            <a:r>
              <a:rPr lang="en-US" dirty="0" smtClean="0"/>
              <a:t>: Convert Excel files into different formats for data exchange. </a:t>
            </a:r>
            <a:endParaRPr lang="en-US" dirty="0" smtClean="0"/>
          </a:p>
          <a:p>
            <a:pPr algn="just"/>
            <a:r>
              <a:rPr lang="en-US" dirty="0" smtClean="0"/>
              <a:t>✅ </a:t>
            </a:r>
            <a:r>
              <a:rPr lang="en-US" dirty="0" smtClean="0"/>
              <a:t>Solution: Use RPA tools to export Excel in different formats</a:t>
            </a:r>
            <a:r>
              <a:rPr lang="en-US" dirty="0" smtClean="0"/>
              <a:t>.</a:t>
            </a:r>
          </a:p>
          <a:p>
            <a:pPr algn="just"/>
            <a:r>
              <a:rPr lang="en-US" dirty="0" smtClean="0"/>
              <a:t> </a:t>
            </a:r>
            <a:r>
              <a:rPr lang="en-US" dirty="0" err="1" smtClean="0"/>
              <a:t>UiPath</a:t>
            </a:r>
            <a:r>
              <a:rPr lang="en-US" dirty="0" smtClean="0"/>
              <a:t>: Write CSV, Export to PDF</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a:t>
            </a:r>
            <a:r>
              <a:rPr lang="en-US" dirty="0" smtClean="0"/>
              <a:t>Automation &amp; Database Automation </a:t>
            </a:r>
            <a:endParaRPr lang="en-US" dirty="0"/>
          </a:p>
        </p:txBody>
      </p:sp>
      <p:sp>
        <p:nvSpPr>
          <p:cNvPr id="3" name="Content Placeholder 2"/>
          <p:cNvSpPr>
            <a:spLocks noGrp="1"/>
          </p:cNvSpPr>
          <p:nvPr>
            <p:ph idx="1"/>
          </p:nvPr>
        </p:nvSpPr>
        <p:spPr/>
        <p:txBody>
          <a:bodyPr/>
          <a:lstStyle/>
          <a:p>
            <a:pPr algn="just"/>
            <a:r>
              <a:rPr lang="en-US" dirty="0" smtClean="0"/>
              <a:t>Why Automate Emails &amp; Databases? </a:t>
            </a:r>
            <a:endParaRPr lang="en-US" dirty="0" smtClean="0"/>
          </a:p>
          <a:p>
            <a:pPr algn="just"/>
            <a:r>
              <a:rPr lang="en-US" dirty="0" smtClean="0"/>
              <a:t>Businesses </a:t>
            </a:r>
            <a:r>
              <a:rPr lang="en-US" dirty="0" smtClean="0"/>
              <a:t>deal with large volumes of emails and databases daily. Manually processing emails and database transactions is time-consuming and error-prone. </a:t>
            </a:r>
            <a:endParaRPr lang="en-US" dirty="0" smtClean="0"/>
          </a:p>
          <a:p>
            <a:pPr algn="just"/>
            <a:r>
              <a:rPr lang="en-US" dirty="0" smtClean="0"/>
              <a:t>✅ </a:t>
            </a:r>
            <a:r>
              <a:rPr lang="en-US" dirty="0" smtClean="0"/>
              <a:t>Email Automation helps extract, process, and send emails automatically. </a:t>
            </a:r>
            <a:endParaRPr lang="en-US" dirty="0" smtClean="0"/>
          </a:p>
          <a:p>
            <a:pPr algn="just"/>
            <a:r>
              <a:rPr lang="en-US" dirty="0" smtClean="0"/>
              <a:t>✅ </a:t>
            </a:r>
            <a:r>
              <a:rPr lang="en-US" dirty="0" smtClean="0"/>
              <a:t>Database Automation streamlines data entry, extraction, validation, and reporting.</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Automation in RPA</a:t>
            </a:r>
            <a:endParaRPr lang="en-US" dirty="0"/>
          </a:p>
        </p:txBody>
      </p:sp>
      <p:sp>
        <p:nvSpPr>
          <p:cNvPr id="3" name="Content Placeholder 2"/>
          <p:cNvSpPr>
            <a:spLocks noGrp="1"/>
          </p:cNvSpPr>
          <p:nvPr>
            <p:ph idx="1"/>
          </p:nvPr>
        </p:nvSpPr>
        <p:spPr/>
        <p:txBody>
          <a:bodyPr/>
          <a:lstStyle/>
          <a:p>
            <a:pPr algn="just"/>
            <a:r>
              <a:rPr lang="en-US" dirty="0" smtClean="0"/>
              <a:t> </a:t>
            </a:r>
            <a:r>
              <a:rPr lang="en-US" dirty="0" smtClean="0"/>
              <a:t>Common Use Cases </a:t>
            </a:r>
            <a:endParaRPr lang="en-US" dirty="0" smtClean="0"/>
          </a:p>
          <a:p>
            <a:pPr algn="just"/>
            <a:r>
              <a:rPr lang="en-US" dirty="0" smtClean="0"/>
              <a:t>✔ </a:t>
            </a:r>
            <a:r>
              <a:rPr lang="en-US" dirty="0" smtClean="0"/>
              <a:t>Reading and extracting data from emails (e.g., invoices, attachments) </a:t>
            </a:r>
            <a:endParaRPr lang="en-US" dirty="0" smtClean="0"/>
          </a:p>
          <a:p>
            <a:pPr algn="just"/>
            <a:r>
              <a:rPr lang="en-US" dirty="0" smtClean="0"/>
              <a:t>✔ </a:t>
            </a:r>
            <a:r>
              <a:rPr lang="en-US" dirty="0" smtClean="0"/>
              <a:t>Sending automated emails (e.g., alerts, reports, notifications) </a:t>
            </a:r>
            <a:endParaRPr lang="en-US" dirty="0" smtClean="0"/>
          </a:p>
          <a:p>
            <a:pPr algn="just"/>
            <a:r>
              <a:rPr lang="en-US" dirty="0" smtClean="0"/>
              <a:t>✔ </a:t>
            </a:r>
            <a:r>
              <a:rPr lang="en-US" dirty="0" smtClean="0"/>
              <a:t>Extracting email attachments and saving them to folders </a:t>
            </a:r>
            <a:endParaRPr lang="en-US" dirty="0" smtClean="0"/>
          </a:p>
          <a:p>
            <a:pPr algn="just"/>
            <a:r>
              <a:rPr lang="en-US" dirty="0" smtClean="0"/>
              <a:t>✔ </a:t>
            </a:r>
            <a:r>
              <a:rPr lang="en-US" dirty="0" smtClean="0"/>
              <a:t>Filtering and categorizing emails based on keywords </a:t>
            </a:r>
            <a:endParaRPr lang="en-US" dirty="0" smtClean="0"/>
          </a:p>
          <a:p>
            <a:pPr algn="just"/>
            <a:r>
              <a:rPr lang="en-US" dirty="0" smtClean="0"/>
              <a:t>✔ </a:t>
            </a:r>
            <a:r>
              <a:rPr lang="en-US" dirty="0" smtClean="0"/>
              <a:t>Replying to emails automatically</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Automation Methods in RPA</a:t>
            </a:r>
            <a:endParaRPr lang="en-US" dirty="0"/>
          </a:p>
        </p:txBody>
      </p:sp>
      <p:sp>
        <p:nvSpPr>
          <p:cNvPr id="3" name="Content Placeholder 2"/>
          <p:cNvSpPr>
            <a:spLocks noGrp="1"/>
          </p:cNvSpPr>
          <p:nvPr>
            <p:ph idx="1"/>
          </p:nvPr>
        </p:nvSpPr>
        <p:spPr/>
        <p:txBody>
          <a:bodyPr/>
          <a:lstStyle/>
          <a:p>
            <a:r>
              <a:rPr lang="en-US" dirty="0" smtClean="0"/>
              <a:t>Email </a:t>
            </a:r>
            <a:r>
              <a:rPr lang="en-US" dirty="0" smtClean="0"/>
              <a:t>Type </a:t>
            </a:r>
            <a:r>
              <a:rPr lang="en-US" dirty="0" smtClean="0"/>
              <a:t>				Integration </a:t>
            </a:r>
            <a:r>
              <a:rPr lang="en-US" dirty="0" smtClean="0"/>
              <a:t>Methods </a:t>
            </a:r>
          </a:p>
          <a:p>
            <a:pPr>
              <a:buNone/>
            </a:pPr>
            <a:r>
              <a:rPr lang="en-US" dirty="0" smtClean="0"/>
              <a:t>		</a:t>
            </a:r>
          </a:p>
          <a:p>
            <a:r>
              <a:rPr lang="en-US" dirty="0" smtClean="0"/>
              <a:t>Outlook </a:t>
            </a:r>
            <a:r>
              <a:rPr lang="en-US" dirty="0" smtClean="0"/>
              <a:t>Emails </a:t>
            </a:r>
            <a:r>
              <a:rPr lang="en-US" dirty="0" smtClean="0"/>
              <a:t>				Outlook </a:t>
            </a:r>
            <a:r>
              <a:rPr lang="en-US" dirty="0" smtClean="0"/>
              <a:t>API, SMTP, IMAP </a:t>
            </a:r>
          </a:p>
          <a:p>
            <a:r>
              <a:rPr lang="en-US" dirty="0" smtClean="0"/>
              <a:t>Gmail </a:t>
            </a:r>
            <a:r>
              <a:rPr lang="en-US" dirty="0" smtClean="0"/>
              <a:t>Automation </a:t>
            </a:r>
            <a:r>
              <a:rPr lang="en-US" dirty="0" smtClean="0"/>
              <a:t>			Gmail </a:t>
            </a:r>
            <a:r>
              <a:rPr lang="en-US" dirty="0" smtClean="0"/>
              <a:t>API, IMAP </a:t>
            </a:r>
            <a:endParaRPr lang="en-US" dirty="0" smtClean="0"/>
          </a:p>
          <a:p>
            <a:r>
              <a:rPr lang="en-US" dirty="0" smtClean="0"/>
              <a:t>Other </a:t>
            </a:r>
            <a:r>
              <a:rPr lang="en-US" dirty="0" smtClean="0"/>
              <a:t>Email Servers </a:t>
            </a:r>
            <a:r>
              <a:rPr lang="en-US" dirty="0" smtClean="0"/>
              <a:t>			Exchange</a:t>
            </a:r>
            <a:r>
              <a:rPr lang="en-US" dirty="0" smtClean="0"/>
              <a:t>, POP3, SMTP</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Emails &amp; Extracting Attachments</a:t>
            </a:r>
            <a:endParaRPr lang="en-US" dirty="0"/>
          </a:p>
        </p:txBody>
      </p:sp>
      <p:sp>
        <p:nvSpPr>
          <p:cNvPr id="3" name="Content Placeholder 2"/>
          <p:cNvSpPr>
            <a:spLocks noGrp="1"/>
          </p:cNvSpPr>
          <p:nvPr>
            <p:ph idx="1"/>
          </p:nvPr>
        </p:nvSpPr>
        <p:spPr/>
        <p:txBody>
          <a:bodyPr/>
          <a:lstStyle/>
          <a:p>
            <a:r>
              <a:rPr lang="en-US" dirty="0" smtClean="0"/>
              <a:t> </a:t>
            </a:r>
            <a:r>
              <a:rPr lang="en-US" dirty="0" smtClean="0"/>
              <a:t>Problem: Manually checking emails and downloading attachments is tedious. </a:t>
            </a:r>
            <a:endParaRPr lang="en-US" dirty="0" smtClean="0"/>
          </a:p>
          <a:p>
            <a:r>
              <a:rPr lang="en-US" dirty="0" smtClean="0"/>
              <a:t> </a:t>
            </a:r>
            <a:r>
              <a:rPr lang="en-US" dirty="0" smtClean="0"/>
              <a:t>Solution: Use RPA email activities</a:t>
            </a:r>
            <a:r>
              <a:rPr lang="en-US" dirty="0" smtClean="0"/>
              <a:t>.</a:t>
            </a:r>
          </a:p>
          <a:p>
            <a:r>
              <a:rPr lang="en-US" dirty="0" smtClean="0"/>
              <a:t> </a:t>
            </a:r>
            <a:r>
              <a:rPr lang="en-US" dirty="0" err="1" smtClean="0"/>
              <a:t>UiPath</a:t>
            </a:r>
            <a:r>
              <a:rPr lang="en-US" dirty="0" smtClean="0"/>
              <a:t>: Get Outlook Mail Messages, Save Attachments</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Sending Automated Emails</a:t>
            </a:r>
            <a:endParaRPr lang="en-US" dirty="0"/>
          </a:p>
        </p:txBody>
      </p:sp>
      <p:sp>
        <p:nvSpPr>
          <p:cNvPr id="3" name="Content Placeholder 2"/>
          <p:cNvSpPr>
            <a:spLocks noGrp="1"/>
          </p:cNvSpPr>
          <p:nvPr>
            <p:ph idx="1"/>
          </p:nvPr>
        </p:nvSpPr>
        <p:spPr/>
        <p:txBody>
          <a:bodyPr/>
          <a:lstStyle/>
          <a:p>
            <a:r>
              <a:rPr lang="en-US" dirty="0" smtClean="0"/>
              <a:t> </a:t>
            </a:r>
            <a:r>
              <a:rPr lang="en-US" dirty="0" smtClean="0"/>
              <a:t>Problem: Businesses need to send reports, alerts, and reminders automatically. </a:t>
            </a:r>
            <a:endParaRPr lang="en-US" dirty="0" smtClean="0"/>
          </a:p>
          <a:p>
            <a:r>
              <a:rPr lang="en-US" dirty="0" smtClean="0"/>
              <a:t>✅ </a:t>
            </a:r>
            <a:r>
              <a:rPr lang="en-US" dirty="0" smtClean="0"/>
              <a:t>Solution: Use email automation actions. </a:t>
            </a:r>
            <a:endParaRPr lang="en-US" dirty="0" smtClean="0"/>
          </a:p>
          <a:p>
            <a:r>
              <a:rPr lang="en-US" dirty="0" smtClean="0"/>
              <a:t> </a:t>
            </a:r>
            <a:r>
              <a:rPr lang="en-US" dirty="0" err="1" smtClean="0"/>
              <a:t>UiPath</a:t>
            </a:r>
            <a:r>
              <a:rPr lang="en-US" dirty="0" smtClean="0"/>
              <a:t>: Send Outlook Mail, Send SMTP Mail</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Data from Email Body &amp; Attachments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Businesses receive structured data in emails (invoices, sales orders, etc.). </a:t>
            </a:r>
            <a:endParaRPr lang="en-US" dirty="0" smtClean="0"/>
          </a:p>
          <a:p>
            <a:r>
              <a:rPr lang="en-US" dirty="0" smtClean="0"/>
              <a:t>✅ </a:t>
            </a:r>
            <a:r>
              <a:rPr lang="en-US" dirty="0" smtClean="0"/>
              <a:t>Solution: Use RPA activities to extract email content and attachments. </a:t>
            </a:r>
            <a:endParaRPr lang="en-US" dirty="0" smtClean="0"/>
          </a:p>
          <a:p>
            <a:r>
              <a:rPr lang="en-US" dirty="0" smtClean="0"/>
              <a:t> </a:t>
            </a:r>
            <a:r>
              <a:rPr lang="en-US" dirty="0" err="1" smtClean="0"/>
              <a:t>UiPath</a:t>
            </a:r>
            <a:r>
              <a:rPr lang="en-US" dirty="0" smtClean="0"/>
              <a:t>: </a:t>
            </a:r>
            <a:r>
              <a:rPr lang="en-US" dirty="0" err="1" smtClean="0"/>
              <a:t>Regex</a:t>
            </a:r>
            <a:r>
              <a:rPr lang="en-US" dirty="0" smtClean="0"/>
              <a:t>, String Manipulation, AI Document Understanding</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Automation in RPA</a:t>
            </a:r>
            <a:endParaRPr lang="en-US" dirty="0"/>
          </a:p>
        </p:txBody>
      </p:sp>
      <p:sp>
        <p:nvSpPr>
          <p:cNvPr id="3" name="Content Placeholder 2"/>
          <p:cNvSpPr>
            <a:spLocks noGrp="1"/>
          </p:cNvSpPr>
          <p:nvPr>
            <p:ph idx="1"/>
          </p:nvPr>
        </p:nvSpPr>
        <p:spPr/>
        <p:txBody>
          <a:bodyPr/>
          <a:lstStyle/>
          <a:p>
            <a:r>
              <a:rPr lang="en-US" dirty="0" smtClean="0"/>
              <a:t>Common </a:t>
            </a:r>
            <a:r>
              <a:rPr lang="en-US" dirty="0" smtClean="0"/>
              <a:t>Use Cases </a:t>
            </a:r>
            <a:endParaRPr lang="en-US" dirty="0" smtClean="0"/>
          </a:p>
          <a:p>
            <a:r>
              <a:rPr lang="en-US" dirty="0" smtClean="0"/>
              <a:t>✔ </a:t>
            </a:r>
            <a:r>
              <a:rPr lang="en-US" dirty="0" smtClean="0"/>
              <a:t>Reading and writing data to databases </a:t>
            </a:r>
            <a:endParaRPr lang="en-US" dirty="0" smtClean="0"/>
          </a:p>
          <a:p>
            <a:r>
              <a:rPr lang="en-US" dirty="0" smtClean="0"/>
              <a:t>✔ </a:t>
            </a:r>
            <a:r>
              <a:rPr lang="en-US" dirty="0" smtClean="0"/>
              <a:t>Validating and updating records </a:t>
            </a:r>
            <a:endParaRPr lang="en-US" dirty="0" smtClean="0"/>
          </a:p>
          <a:p>
            <a:r>
              <a:rPr lang="en-US" dirty="0" smtClean="0"/>
              <a:t>✔ </a:t>
            </a:r>
            <a:r>
              <a:rPr lang="en-US" dirty="0" smtClean="0"/>
              <a:t>Automating database queries and reports </a:t>
            </a:r>
            <a:endParaRPr lang="en-US" dirty="0" smtClean="0"/>
          </a:p>
          <a:p>
            <a:r>
              <a:rPr lang="en-US" dirty="0" smtClean="0"/>
              <a:t>✔ </a:t>
            </a:r>
            <a:r>
              <a:rPr lang="en-US" dirty="0" smtClean="0"/>
              <a:t>Data migration between databases </a:t>
            </a:r>
            <a:endParaRPr lang="en-US" dirty="0" smtClean="0"/>
          </a:p>
          <a:p>
            <a:r>
              <a:rPr lang="en-US" dirty="0" smtClean="0"/>
              <a:t>✔ </a:t>
            </a:r>
            <a:r>
              <a:rPr lang="en-US" dirty="0" smtClean="0"/>
              <a:t>Backing up and archiving database records</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Automation Methods in RPA</a:t>
            </a:r>
            <a:endParaRPr lang="en-US" dirty="0"/>
          </a:p>
        </p:txBody>
      </p:sp>
      <p:sp>
        <p:nvSpPr>
          <p:cNvPr id="3" name="Content Placeholder 2"/>
          <p:cNvSpPr>
            <a:spLocks noGrp="1"/>
          </p:cNvSpPr>
          <p:nvPr>
            <p:ph idx="1"/>
          </p:nvPr>
        </p:nvSpPr>
        <p:spPr/>
        <p:txBody>
          <a:bodyPr/>
          <a:lstStyle/>
          <a:p>
            <a:r>
              <a:rPr lang="en-US" b="1" dirty="0" smtClean="0"/>
              <a:t>Database </a:t>
            </a:r>
            <a:r>
              <a:rPr lang="en-US" b="1" dirty="0" smtClean="0"/>
              <a:t>Type </a:t>
            </a:r>
            <a:r>
              <a:rPr lang="en-US" b="1" dirty="0" smtClean="0"/>
              <a:t>			Integration </a:t>
            </a:r>
            <a:r>
              <a:rPr lang="en-US" b="1" dirty="0" smtClean="0"/>
              <a:t>Methods </a:t>
            </a:r>
            <a:endParaRPr lang="en-US" b="1" dirty="0" smtClean="0"/>
          </a:p>
          <a:p>
            <a:r>
              <a:rPr lang="en-US" dirty="0" smtClean="0"/>
              <a:t>SQL Databases			 </a:t>
            </a:r>
            <a:r>
              <a:rPr lang="en-US" dirty="0" err="1" smtClean="0"/>
              <a:t>MySQL</a:t>
            </a:r>
            <a:r>
              <a:rPr lang="en-US" dirty="0" smtClean="0"/>
              <a:t>, SQL Server, </a:t>
            </a:r>
            <a:r>
              <a:rPr lang="en-US" dirty="0" err="1" smtClean="0"/>
              <a:t>PostgreSQL</a:t>
            </a:r>
            <a:r>
              <a:rPr lang="en-US" dirty="0" smtClean="0"/>
              <a:t>, Oracle </a:t>
            </a:r>
            <a:endParaRPr lang="en-US" dirty="0" smtClean="0"/>
          </a:p>
          <a:p>
            <a:r>
              <a:rPr lang="en-US" dirty="0" err="1" smtClean="0"/>
              <a:t>NoSQL</a:t>
            </a:r>
            <a:r>
              <a:rPr lang="en-US" dirty="0" smtClean="0"/>
              <a:t> </a:t>
            </a:r>
            <a:r>
              <a:rPr lang="en-US" dirty="0" smtClean="0"/>
              <a:t>Databases </a:t>
            </a:r>
            <a:r>
              <a:rPr lang="en-US" dirty="0" smtClean="0"/>
              <a:t>		</a:t>
            </a:r>
            <a:r>
              <a:rPr lang="en-US" dirty="0" err="1" smtClean="0"/>
              <a:t>MongoDB</a:t>
            </a:r>
            <a:r>
              <a:rPr lang="en-US" dirty="0" smtClean="0"/>
              <a:t>, Firebase </a:t>
            </a:r>
            <a:endParaRPr lang="en-US" dirty="0" smtClean="0"/>
          </a:p>
          <a:p>
            <a:r>
              <a:rPr lang="en-US" dirty="0" smtClean="0"/>
              <a:t>Cloud </a:t>
            </a:r>
            <a:r>
              <a:rPr lang="en-US" dirty="0" smtClean="0"/>
              <a:t>Databases </a:t>
            </a:r>
            <a:r>
              <a:rPr lang="en-US" dirty="0" smtClean="0"/>
              <a:t>			AWS </a:t>
            </a:r>
            <a:r>
              <a:rPr lang="en-US" dirty="0" smtClean="0"/>
              <a:t>RDS, Google Firebase, Azure SQL</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Connecting to Databases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Automating database queries without manual intervention. </a:t>
            </a:r>
            <a:endParaRPr lang="en-US" dirty="0" smtClean="0"/>
          </a:p>
          <a:p>
            <a:r>
              <a:rPr lang="en-US" dirty="0" smtClean="0"/>
              <a:t>✅ </a:t>
            </a:r>
            <a:r>
              <a:rPr lang="en-US" dirty="0" smtClean="0"/>
              <a:t>Solution: Use built-in database automation activities</a:t>
            </a:r>
            <a:r>
              <a:rPr lang="en-US" dirty="0" smtClean="0"/>
              <a:t>.</a:t>
            </a:r>
          </a:p>
          <a:p>
            <a:r>
              <a:rPr lang="en-US" dirty="0" smtClean="0"/>
              <a:t> </a:t>
            </a:r>
            <a:r>
              <a:rPr lang="en-US" dirty="0" err="1" smtClean="0"/>
              <a:t>UiPath</a:t>
            </a:r>
            <a:r>
              <a:rPr lang="en-US" dirty="0" smtClean="0"/>
              <a:t>: Database Activities – Connect, Execute Query</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Inserting &amp; Updating Data in Databases</a:t>
            </a:r>
            <a:endParaRPr lang="en-US" dirty="0"/>
          </a:p>
        </p:txBody>
      </p:sp>
      <p:sp>
        <p:nvSpPr>
          <p:cNvPr id="3" name="Content Placeholder 2"/>
          <p:cNvSpPr>
            <a:spLocks noGrp="1"/>
          </p:cNvSpPr>
          <p:nvPr>
            <p:ph idx="1"/>
          </p:nvPr>
        </p:nvSpPr>
        <p:spPr/>
        <p:txBody>
          <a:bodyPr/>
          <a:lstStyle/>
          <a:p>
            <a:r>
              <a:rPr lang="en-US" dirty="0" smtClean="0"/>
              <a:t>Problem: </a:t>
            </a:r>
            <a:r>
              <a:rPr lang="en-US" dirty="0" smtClean="0"/>
              <a:t>Businesses need to automate database updates from Excel, emails, or APIs. </a:t>
            </a:r>
            <a:endParaRPr lang="en-US" dirty="0" smtClean="0"/>
          </a:p>
          <a:p>
            <a:r>
              <a:rPr lang="en-US" dirty="0" smtClean="0"/>
              <a:t>✅ </a:t>
            </a:r>
            <a:r>
              <a:rPr lang="en-US" dirty="0" smtClean="0"/>
              <a:t>Solution: Use RPA to insert/update database records. </a:t>
            </a:r>
            <a:endParaRPr lang="en-US" dirty="0" smtClean="0"/>
          </a:p>
          <a:p>
            <a:r>
              <a:rPr lang="en-US" dirty="0" smtClean="0"/>
              <a:t> </a:t>
            </a:r>
            <a:r>
              <a:rPr lang="en-US" dirty="0" err="1" smtClean="0"/>
              <a:t>UiPath</a:t>
            </a:r>
            <a:r>
              <a:rPr lang="en-US" dirty="0" smtClean="0"/>
              <a:t>: Execute </a:t>
            </a:r>
            <a:r>
              <a:rPr lang="en-US" dirty="0" err="1" smtClean="0"/>
              <a:t>NonQuery</a:t>
            </a:r>
            <a:r>
              <a:rPr lang="en-US" dirty="0" smtClean="0"/>
              <a:t> activity</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Automating SQL Queries &amp; Reports</a:t>
            </a:r>
            <a:endParaRPr lang="en-US" dirty="0"/>
          </a:p>
        </p:txBody>
      </p:sp>
      <p:sp>
        <p:nvSpPr>
          <p:cNvPr id="3" name="Content Placeholder 2"/>
          <p:cNvSpPr>
            <a:spLocks noGrp="1"/>
          </p:cNvSpPr>
          <p:nvPr>
            <p:ph idx="1"/>
          </p:nvPr>
        </p:nvSpPr>
        <p:spPr/>
        <p:txBody>
          <a:bodyPr/>
          <a:lstStyle/>
          <a:p>
            <a:r>
              <a:rPr lang="en-US" dirty="0" smtClean="0"/>
              <a:t>Problem</a:t>
            </a:r>
            <a:r>
              <a:rPr lang="en-US" dirty="0" smtClean="0"/>
              <a:t>: Generating reports dynamically from a database</a:t>
            </a:r>
            <a:r>
              <a:rPr lang="en-US" dirty="0" smtClean="0"/>
              <a:t>.</a:t>
            </a:r>
          </a:p>
          <a:p>
            <a:r>
              <a:rPr lang="en-US" dirty="0" smtClean="0"/>
              <a:t> </a:t>
            </a:r>
            <a:r>
              <a:rPr lang="en-US" dirty="0" smtClean="0"/>
              <a:t>✅ Solution: Automate SQL query execution and save reports. </a:t>
            </a:r>
            <a:endParaRPr lang="en-US" dirty="0" smtClean="0"/>
          </a:p>
          <a:p>
            <a:r>
              <a:rPr lang="en-US" dirty="0" smtClean="0"/>
              <a:t> </a:t>
            </a:r>
            <a:r>
              <a:rPr lang="en-US" dirty="0" err="1" smtClean="0"/>
              <a:t>UiPath</a:t>
            </a:r>
            <a:r>
              <a:rPr lang="en-US" dirty="0" smtClean="0"/>
              <a:t>: Run SQL Query</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Outcome(CO)</a:t>
            </a:r>
            <a:endParaRPr lang="en-US" dirty="0"/>
          </a:p>
        </p:txBody>
      </p:sp>
      <p:sp>
        <p:nvSpPr>
          <p:cNvPr id="3" name="Content Placeholder 2"/>
          <p:cNvSpPr>
            <a:spLocks noGrp="1"/>
          </p:cNvSpPr>
          <p:nvPr>
            <p:ph idx="1"/>
          </p:nvPr>
        </p:nvSpPr>
        <p:spPr/>
        <p:txBody>
          <a:bodyPr/>
          <a:lstStyle/>
          <a:p>
            <a:pPr>
              <a:buNone/>
            </a:pPr>
            <a:endParaRPr lang="en-US" dirty="0" smtClean="0"/>
          </a:p>
          <a:p>
            <a:r>
              <a:rPr lang="en-US" dirty="0" smtClean="0"/>
              <a:t>demonstrate RPA tools and automation techniques</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600</TotalTime>
  <Words>8056</Words>
  <Application>Microsoft Office PowerPoint</Application>
  <PresentationFormat>Custom</PresentationFormat>
  <Paragraphs>600</Paragraphs>
  <Slides>113</Slides>
  <Notes>2</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Office Theme</vt:lpstr>
      <vt:lpstr>UNIT-3 PART B</vt:lpstr>
      <vt:lpstr>Advanced Automation concepts &amp; Techniques:</vt:lpstr>
      <vt:lpstr> Selectors and Dynamic Selectors:</vt:lpstr>
      <vt:lpstr>Orchestrator and Advanced Scheduling:</vt:lpstr>
      <vt:lpstr>. Advanced Exception Handling</vt:lpstr>
      <vt:lpstr>Parallel Execution and Multi-Threading:</vt:lpstr>
      <vt:lpstr>Custom Libraries and Custom Activities:</vt:lpstr>
      <vt:lpstr>Machine Learning and AI Integration</vt:lpstr>
      <vt:lpstr>Advanced Data Manipulation and Processing:  </vt:lpstr>
      <vt:lpstr>Re-framework:</vt:lpstr>
      <vt:lpstr>API Integration:</vt:lpstr>
      <vt:lpstr>UiPath Apps and Dashboards:</vt:lpstr>
      <vt:lpstr>Citrix Automation &amp; Remote Desktop Automation: </vt:lpstr>
      <vt:lpstr>Security and Best Practices:</vt:lpstr>
      <vt:lpstr>Version Control and Collaboration:  </vt:lpstr>
      <vt:lpstr>Containerization with UiPath Robots:</vt:lpstr>
      <vt:lpstr>Advanced Queue Management:</vt:lpstr>
      <vt:lpstr>Recorders in Uipath:</vt:lpstr>
      <vt:lpstr>Types of Recorders in UiPath</vt:lpstr>
      <vt:lpstr>2. Desktop Recorder</vt:lpstr>
      <vt:lpstr>3. Web Recorder</vt:lpstr>
      <vt:lpstr>4. Citrix Recorder</vt:lpstr>
      <vt:lpstr>5. Action Recorder</vt:lpstr>
      <vt:lpstr>App Integration Recorder</vt:lpstr>
      <vt:lpstr>Key Features of UiPath Recorders:</vt:lpstr>
      <vt:lpstr>BEYOND THE SYLLABUS </vt:lpstr>
      <vt:lpstr>App Recorder and Web Recorder </vt:lpstr>
      <vt:lpstr>Slide 28</vt:lpstr>
      <vt:lpstr>Slide 29</vt:lpstr>
      <vt:lpstr>Slide 30</vt:lpstr>
      <vt:lpstr>Slide 31</vt:lpstr>
      <vt:lpstr>Slide 32</vt:lpstr>
      <vt:lpstr>Slide 33</vt:lpstr>
      <vt:lpstr>Input and Output methods  </vt:lpstr>
      <vt:lpstr>Slide 35</vt:lpstr>
      <vt:lpstr>Slide 36</vt:lpstr>
      <vt:lpstr>Slide 37</vt:lpstr>
      <vt:lpstr>Slide 38</vt:lpstr>
      <vt:lpstr>Debugging</vt:lpstr>
      <vt:lpstr>Debugging  I/O  Errors in UiPath A. Using Debugging Tools </vt:lpstr>
      <vt:lpstr>Slide 41</vt:lpstr>
      <vt:lpstr>B. Check Input and Output Data Types</vt:lpstr>
      <vt:lpstr>C. Check for Null or Empty Values</vt:lpstr>
      <vt:lpstr>Slide 44</vt:lpstr>
      <vt:lpstr>D. Verify File Paths and File Availability</vt:lpstr>
      <vt:lpstr>E. Logging and Tracing</vt:lpstr>
      <vt:lpstr>F. Test Data Flow (Input/Output)</vt:lpstr>
      <vt:lpstr>Common Activities to Debug I/O</vt:lpstr>
      <vt:lpstr>RPA Challenge</vt:lpstr>
      <vt:lpstr>Key Objectives of RPA Challenges</vt:lpstr>
      <vt:lpstr>Steps to Approach an RPA Challenge</vt:lpstr>
      <vt:lpstr>2. Break Down the Task  </vt:lpstr>
      <vt:lpstr>3. Plan the Automation</vt:lpstr>
      <vt:lpstr>4. Build the Workflow </vt:lpstr>
      <vt:lpstr> 5. Test the Automation  </vt:lpstr>
      <vt:lpstr>6. Optimize and Refine  </vt:lpstr>
      <vt:lpstr>7. Submit/Present the Solution  </vt:lpstr>
      <vt:lpstr>Common Types of RPA Challenges </vt:lpstr>
      <vt:lpstr>2. Web Scraping:</vt:lpstr>
      <vt:lpstr>3. Excel Automation:  </vt:lpstr>
      <vt:lpstr>4. System Integration:  </vt:lpstr>
      <vt:lpstr>5. Image-Based Automation:  </vt:lpstr>
      <vt:lpstr>6. Document Processing:  </vt:lpstr>
      <vt:lpstr>Example of a Simple RPA Challenge:  </vt:lpstr>
      <vt:lpstr>Image, Text &amp; Advanced Citrix Automation:</vt:lpstr>
      <vt:lpstr>1. Image-Based Automation  </vt:lpstr>
      <vt:lpstr>How to Achieve Image-Based Automation:  </vt:lpstr>
      <vt:lpstr>2. Text-Based Automation  </vt:lpstr>
      <vt:lpstr>How to Achieve Text-Based Automation:  </vt:lpstr>
      <vt:lpstr>3. Advanced Citrix Automation</vt:lpstr>
      <vt:lpstr>How to Achieve Advanced Citrix Automation: </vt:lpstr>
      <vt:lpstr>Slide 72</vt:lpstr>
      <vt:lpstr>Keyboard-Based Automation in RPA  </vt:lpstr>
      <vt:lpstr>Common Use Cases for Keyboard-Based Automation  </vt:lpstr>
      <vt:lpstr>Keyboard-Based Automation in UiPath</vt:lpstr>
      <vt:lpstr>Slide 76</vt:lpstr>
      <vt:lpstr>Slide 77</vt:lpstr>
      <vt:lpstr>Combining Keyboard-Based Automation with Other Techniques  </vt:lpstr>
      <vt:lpstr>Example Workflow Using Keyboard-Based Automation:  </vt:lpstr>
      <vt:lpstr>Advanced Citrix Automation challenges  </vt:lpstr>
      <vt:lpstr>Slide 81</vt:lpstr>
      <vt:lpstr>Best RPA Tools for Citrix Automation</vt:lpstr>
      <vt:lpstr>PDF Automation</vt:lpstr>
      <vt:lpstr>Common PDF Automation Use Cases in RPA</vt:lpstr>
      <vt:lpstr>Extracting Text from PDFs (Text-Based PDFs)</vt:lpstr>
      <vt:lpstr>Extracting Text from Scanned PDFs (OCR-Based PDFs)</vt:lpstr>
      <vt:lpstr>Extracting Tables from PDFs</vt:lpstr>
      <vt:lpstr>Extracting Data from PDF Forms</vt:lpstr>
      <vt:lpstr>5 Merging, Splitting, &amp; Converting PDFs</vt:lpstr>
      <vt:lpstr>Handling Password-Protected PDFs</vt:lpstr>
      <vt:lpstr>Digitally Signing PDFs</vt:lpstr>
      <vt:lpstr>App Integration &amp; Excel Automation:</vt:lpstr>
      <vt:lpstr>App Integration in RPA</vt:lpstr>
      <vt:lpstr>Common Use Cases</vt:lpstr>
      <vt:lpstr>Excel Automation in RPA</vt:lpstr>
      <vt:lpstr>App Integration Methods in RPA</vt:lpstr>
      <vt:lpstr>Excel Automation Methods in RPA</vt:lpstr>
      <vt:lpstr>Excel Data Filtering &amp; Sorting</vt:lpstr>
      <vt:lpstr>Automating Excel Formulas &amp; Macros</vt:lpstr>
      <vt:lpstr>Generating Reports &amp; Charts in Excel</vt:lpstr>
      <vt:lpstr>Converting Excel to CSV, JSON, or PDF</vt:lpstr>
      <vt:lpstr>Email Automation &amp; Database Automation </vt:lpstr>
      <vt:lpstr>Email Automation in RPA</vt:lpstr>
      <vt:lpstr>Email Automation Methods in RPA</vt:lpstr>
      <vt:lpstr>Reading Emails &amp; Extracting Attachments</vt:lpstr>
      <vt:lpstr>Sending Automated Emails</vt:lpstr>
      <vt:lpstr>Extracting Data from Email Body &amp; Attachments</vt:lpstr>
      <vt:lpstr>Database Automation in RPA</vt:lpstr>
      <vt:lpstr>Database Automation Methods in RPA</vt:lpstr>
      <vt:lpstr>Connecting to Databases</vt:lpstr>
      <vt:lpstr>Inserting &amp; Updating Data in Databases</vt:lpstr>
      <vt:lpstr>Automating SQL Queries &amp; Reports</vt:lpstr>
      <vt:lpstr>Course Outcome(CO)</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 and Output methods  </dc:title>
  <dc:creator>S Alagumuthukrishnan</dc:creator>
  <cp:lastModifiedBy>user</cp:lastModifiedBy>
  <cp:revision>66</cp:revision>
  <dcterms:created xsi:type="dcterms:W3CDTF">2025-03-04T08:02:51Z</dcterms:created>
  <dcterms:modified xsi:type="dcterms:W3CDTF">2025-03-21T06:47:59Z</dcterms:modified>
</cp:coreProperties>
</file>